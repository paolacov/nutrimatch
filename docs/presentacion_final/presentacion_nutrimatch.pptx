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type="sldImg"/>
          </p:nvPr>
        </p:nvSpPr>
        <p:spPr>
          <a:prstGeom prst="rect">
            <a:avLst/>
          </a:prstGeom>
        </p:spPr>
        <p:txBody>
          <a:bodyPr/>
          <a:lstStyle/>
          <a:p>
            <a:pPr/>
          </a:p>
        </p:txBody>
      </p:sp>
      <p:sp>
        <p:nvSpPr>
          <p:cNvPr id="3" name="Notes"/>
          <p:cNvSpPr/>
          <p:nvPr>
            <p:ph type="body" sz="quarter" idx="1"/>
          </p:nvPr>
        </p:nvSpPr>
        <p:spPr>
          <a:prstGeom prst="rect">
            <a:avLst/>
          </a:prstGeom>
        </p:spPr>
        <p:txBody>
          <a:bodyPr/>
          <a:lstStyle/>
          <a:p>
            <a:pPr/>
            <a:r>
              <a:t>Cuando una persona compra un alimento empacado, tiene que revisar piezas distintas para comparar opciones. NutriMatch organiza esa información para que la decisión sea más clara.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type="sldImg"/>
          </p:nvPr>
        </p:nvSpPr>
        <p:spPr>
          <a:prstGeom prst="rect">
            <a:avLst/>
          </a:prstGeom>
        </p:spPr>
        <p:txBody>
          <a:bodyPr/>
          <a:lstStyle/>
          <a:p>
            <a:pPr/>
          </a:p>
        </p:txBody>
      </p:sp>
      <p:sp>
        <p:nvSpPr>
          <p:cNvPr id="3" name="Notes"/>
          <p:cNvSpPr/>
          <p:nvPr>
            <p:ph type="body" sz="quarter" idx="1"/>
          </p:nvPr>
        </p:nvSpPr>
        <p:spPr>
          <a:prstGeom prst="rect">
            <a:avLst/>
          </a:prstGeom>
        </p:spPr>
        <p:txBody>
          <a:bodyPr/>
          <a:lstStyle/>
          <a:p>
            <a:pPr/>
            <a:r>
              <a:t>La información necesaria para decidir puede estar repartida entre nutrición, procesamiento, etiquetas, restricciones y precio. Si una pieza falta, NutriMatch no la interpreta como un valor favorable ni como uno desfavorable. Esa es la condición para comparar de forma consistente.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type="sldImg"/>
          </p:nvPr>
        </p:nvSpPr>
        <p:spPr>
          <a:prstGeom prst="rect">
            <a:avLst/>
          </a:prstGeom>
        </p:spPr>
        <p:txBody>
          <a:bodyPr/>
          <a:lstStyle/>
          <a:p>
            <a:pPr/>
          </a:p>
        </p:txBody>
      </p:sp>
      <p:sp>
        <p:nvSpPr>
          <p:cNvPr id="3" name="Notes"/>
          <p:cNvSpPr/>
          <p:nvPr>
            <p:ph type="body" sz="quarter" idx="1"/>
          </p:nvPr>
        </p:nvSpPr>
        <p:spPr>
          <a:prstGeom prst="rect">
            <a:avLst/>
          </a:prstGeom>
        </p:spPr>
        <p:txBody>
          <a:bodyPr/>
          <a:lstStyle/>
          <a:p>
            <a:pPr/>
            <a:r>
              <a:t>Antes de comparar, la persona declara sus prioridades. En esta demostración el orden es nutrición, procesamiento y etiquetas. No hay dieta ni alergias. El resultado depende de ese orden. No significa que el sistema determine qué alimento es saludable.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type="sldImg"/>
          </p:nvPr>
        </p:nvSpPr>
        <p:spPr>
          <a:prstGeom prst="rect">
            <a:avLst/>
          </a:prstGeom>
        </p:spPr>
        <p:txBody>
          <a:bodyPr/>
          <a:lstStyle/>
          <a:p>
            <a:pPr/>
          </a:p>
        </p:txBody>
      </p:sp>
      <p:sp>
        <p:nvSpPr>
          <p:cNvPr id="3" name="Notes"/>
          <p:cNvSpPr/>
          <p:nvPr>
            <p:ph type="body" sz="quarter" idx="1"/>
          </p:nvPr>
        </p:nvSpPr>
        <p:spPr>
          <a:prstGeom prst="rect">
            <a:avLst/>
          </a:prstGeom>
        </p:spPr>
        <p:txBody>
          <a:bodyPr/>
          <a:lstStyle/>
          <a:p>
            <a:pPr/>
            <a:r>
              <a:t>Para esta demostración parto de un producto concreto. Escribo el código 7501003390288 en Buscar. Ese código abre directamente la ficha de aceitunas sin hueso, de Búfalo.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type="sldImg"/>
          </p:nvPr>
        </p:nvSpPr>
        <p:spPr>
          <a:prstGeom prst="rect">
            <a:avLst/>
          </a:prstGeom>
        </p:spPr>
        <p:txBody>
          <a:bodyPr/>
          <a:lstStyle/>
          <a:p>
            <a:pPr/>
          </a:p>
        </p:txBody>
      </p:sp>
      <p:sp>
        <p:nvSpPr>
          <p:cNvPr id="3" name="Notes"/>
          <p:cNvSpPr/>
          <p:nvPr>
            <p:ph type="body" sz="quarter" idx="1"/>
          </p:nvPr>
        </p:nvSpPr>
        <p:spPr>
          <a:prstGeom prst="rect">
            <a:avLst/>
          </a:prstGeom>
        </p:spPr>
        <p:txBody>
          <a:bodyPr/>
          <a:lstStyle/>
          <a:p>
            <a:pPr/>
            <a:r>
              <a:t>La ficha reúne la información relevante para la decisión. Con las prioridades declaradas, Búfalo queda cerca de 40. Los 30 pesos son un precio real. En la foto se ven los sellos de exceso de grasas saturadas y de sodio. El resultado no significa que el alimento sea saludable.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type="sldImg"/>
          </p:nvPr>
        </p:nvSpPr>
        <p:spPr>
          <a:prstGeom prst="rect">
            <a:avLst/>
          </a:prstGeom>
        </p:spPr>
        <p:txBody>
          <a:bodyPr/>
          <a:lstStyle/>
          <a:p>
            <a:pPr/>
          </a:p>
        </p:txBody>
      </p:sp>
      <p:sp>
        <p:nvSpPr>
          <p:cNvPr id="3" name="Notes"/>
          <p:cNvSpPr/>
          <p:nvPr>
            <p:ph type="body" sz="quarter" idx="1"/>
          </p:nvPr>
        </p:nvSpPr>
        <p:spPr>
          <a:prstGeom prst="rect">
            <a:avLst/>
          </a:prstGeom>
        </p:spPr>
        <p:txBody>
          <a:bodyPr/>
          <a:lstStyle/>
          <a:p>
            <a:pPr/>
            <a:r>
              <a:t>La persona no tiene que quedarse con el primer producto. Al explorar alternativas del mismo grupo aparece La Cibeles. Con las prioridades declaradas, obtiene un resultado mayor: la pantalla muestra cerca de 76,5. Eso no significa que sea más saludable. Los 74 pesos son un precio de demostración, porque no hay un precio real para ese producto. El precio se muestra como información y no determina el orden. La acción de esta historia es Sustituir.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type="sldImg"/>
          </p:nvPr>
        </p:nvSpPr>
        <p:spPr>
          <a:prstGeom prst="rect">
            <a:avLst/>
          </a:prstGeom>
        </p:spPr>
        <p:txBody>
          <a:bodyPr/>
          <a:lstStyle/>
          <a:p>
            <a:pPr/>
          </a:p>
        </p:txBody>
      </p:sp>
      <p:sp>
        <p:nvSpPr>
          <p:cNvPr id="3" name="Notes"/>
          <p:cNvSpPr/>
          <p:nvPr>
            <p:ph type="body" sz="quarter" idx="1"/>
          </p:nvPr>
        </p:nvSpPr>
        <p:spPr>
          <a:prstGeom prst="rect">
            <a:avLst/>
          </a:prstGeom>
        </p:spPr>
        <p:txBody>
          <a:bodyPr/>
          <a:lstStyle/>
          <a:p>
            <a:pPr/>
            <a:r>
              <a:t>Después de pulsar Sustituir, Búfalo deja el carrito y queda únicamente La Cibeles, con la etiqueta de precio de demostración. La Cibeles no pertenece a los tres grupos de esta vista del Plato del Buen Comer, por eso el carrito aparece como no clasificado. Con un solo producto, ese grupo queda en 100 por ciento. El porcentaje se calcula por número de productos, no por gramos.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type="sldImg"/>
          </p:nvPr>
        </p:nvSpPr>
        <p:spPr>
          <a:prstGeom prst="rect">
            <a:avLst/>
          </a:prstGeom>
        </p:spPr>
        <p:txBody>
          <a:bodyPr/>
          <a:lstStyle/>
          <a:p>
            <a:pPr/>
          </a:p>
        </p:txBody>
      </p:sp>
      <p:sp>
        <p:nvSpPr>
          <p:cNvPr id="3" name="Notes"/>
          <p:cNvSpPr/>
          <p:nvPr>
            <p:ph type="body" sz="quarter" idx="1"/>
          </p:nvPr>
        </p:nvSpPr>
        <p:spPr>
          <a:prstGeom prst="rect">
            <a:avLst/>
          </a:prstGeom>
        </p:spPr>
        <p:txBody>
          <a:bodyPr/>
          <a:lstStyle/>
          <a:p>
            <a:pPr/>
            <a:r>
              <a:t>Después de la sustitución, las alertas corresponden al carrito actual. La Cibeles aparece sin sello de exceso. Las alertas informan: no constituyen un diagnóstico y no determinan por sí mismas la puntuación.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p:nvPr>
            <p:ph type="sldImg"/>
          </p:nvPr>
        </p:nvSpPr>
        <p:spPr>
          <a:prstGeom prst="rect">
            <a:avLst/>
          </a:prstGeom>
        </p:spPr>
        <p:txBody>
          <a:bodyPr/>
          <a:lstStyle/>
          <a:p>
            <a:pPr/>
          </a:p>
        </p:txBody>
      </p:sp>
      <p:sp>
        <p:nvSpPr>
          <p:cNvPr id="3" name="Notes"/>
          <p:cNvSpPr/>
          <p:nvPr>
            <p:ph type="body" sz="quarter" idx="1"/>
          </p:nvPr>
        </p:nvSpPr>
        <p:spPr>
          <a:prstGeom prst="rect">
            <a:avLst/>
          </a:prstGeom>
        </p:spPr>
        <p:txBody>
          <a:bodyPr/>
          <a:lstStyle/>
          <a:p>
            <a:pPr/>
            <a:r>
              <a:t>Detrás de la experiencia hay un flujo de Ciencia de Datos: integra los datos, los prepara, construye las variables de la decisión y alimenta un motor determinista. 5 864 productos están dentro del universo puntuable: cumplen las condiciones del motor para poder entrar al ranking. Un dato faltante no se convierte en cero, y no se imputaron nutrientes, alérgenos ni precio. NutriMatch utiliza un motor determinista porque el catálogo no contiene un target observado que permita entrenar y evaluar de manera científicamente válida un modelo de recomendación.</a:t>
            </a:r>
          </a:p>
          <a:p>
            <a:pPr/>
          </a:p>
          <a:p>
            <a:pPr/>
            <a:r>
              <a:t>El valor de NutriMatch está en transformar información dispersa en una comparación trazable y utilizable. No decide por la persona qué alimento es saludable. Organiza la información para que pueda comparar y elegir.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20840" y="0"/>
            <a:ext cx="5477256" cy="685800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720840" y="0"/>
            <a:ext cx="73152" cy="6858000"/>
          </a:xfrm>
          <a:prstGeom prst="rect">
            <a:avLst/>
          </a:prstGeom>
          <a:solidFill>
            <a:srgbClr val="E8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5943600" cy="256032"/>
          </a:xfrm>
          <a:prstGeom prst="rect">
            <a:avLst/>
          </a:prstGeom>
          <a:noFill/>
        </p:spPr>
        <p:txBody>
          <a:bodyPr wrap="square" lIns="0" rIns="0" tIns="0" bIns="0" anchor="t"/>
          <a:lstStyle/>
          <a:p>
            <a:pPr algn="l">
              <a:lnSpc>
                <a:spcPct val="95000"/>
              </a:lnSpc>
              <a:spcBef>
                <a:spcPts val="0"/>
              </a:spcBef>
              <a:spcAft>
                <a:spcPts val="0"/>
              </a:spcAft>
            </a:pPr>
            <a:r>
              <a:rPr sz="1200" b="1">
                <a:solidFill>
                  <a:srgbClr val="0F6B63"/>
                </a:solidFill>
                <a:latin typeface="Plus Jakarta Sans"/>
                <a:ea typeface="Plus Jakarta Sans"/>
                <a:cs typeface="Plus Jakarta Sans"/>
              </a:rPr>
              <a:t>DIPLOMADO EN CIENCIA DE DATOS  ·  2026</a:t>
            </a:r>
          </a:p>
        </p:txBody>
      </p:sp>
      <p:sp>
        <p:nvSpPr>
          <p:cNvPr id="6" name="TextBox 5"/>
          <p:cNvSpPr txBox="1"/>
          <p:nvPr/>
        </p:nvSpPr>
        <p:spPr>
          <a:xfrm>
            <a:off x="438912" y="1051560"/>
            <a:ext cx="6035040" cy="868680"/>
          </a:xfrm>
          <a:prstGeom prst="rect">
            <a:avLst/>
          </a:prstGeom>
          <a:noFill/>
        </p:spPr>
        <p:txBody>
          <a:bodyPr wrap="square" lIns="0" rIns="0" tIns="0" bIns="0" anchor="t"/>
          <a:lstStyle/>
          <a:p>
            <a:pPr algn="l">
              <a:lnSpc>
                <a:spcPct val="95000"/>
              </a:lnSpc>
              <a:spcBef>
                <a:spcPts val="0"/>
              </a:spcBef>
              <a:spcAft>
                <a:spcPts val="0"/>
              </a:spcAft>
            </a:pPr>
            <a:r>
              <a:rPr sz="5400" b="1">
                <a:solidFill>
                  <a:srgbClr val="10231F"/>
                </a:solidFill>
                <a:latin typeface="Plus Jakarta Sans"/>
                <a:ea typeface="Plus Jakarta Sans"/>
                <a:cs typeface="Plus Jakarta Sans"/>
              </a:rPr>
              <a:t>NutriMatch</a:t>
            </a:r>
          </a:p>
        </p:txBody>
      </p:sp>
      <p:sp>
        <p:nvSpPr>
          <p:cNvPr id="7" name="TextBox 6"/>
          <p:cNvSpPr txBox="1"/>
          <p:nvPr/>
        </p:nvSpPr>
        <p:spPr>
          <a:xfrm>
            <a:off x="457200" y="2057400"/>
            <a:ext cx="5852160" cy="1051560"/>
          </a:xfrm>
          <a:prstGeom prst="rect">
            <a:avLst/>
          </a:prstGeom>
          <a:noFill/>
        </p:spPr>
        <p:txBody>
          <a:bodyPr wrap="square" lIns="0" rIns="0" tIns="0" bIns="0" anchor="t"/>
          <a:lstStyle/>
          <a:p>
            <a:pPr algn="l">
              <a:lnSpc>
                <a:spcPct val="95000"/>
              </a:lnSpc>
              <a:spcBef>
                <a:spcPts val="0"/>
              </a:spcBef>
              <a:spcAft>
                <a:spcPts val="0"/>
              </a:spcAft>
            </a:pPr>
            <a:r>
              <a:rPr sz="2400" b="1">
                <a:solidFill>
                  <a:srgbClr val="0A4A40"/>
                </a:solidFill>
                <a:latin typeface="Plus Jakarta Sans"/>
                <a:ea typeface="Plus Jakarta Sans"/>
                <a:cs typeface="Plus Jakarta Sans"/>
              </a:rPr>
              <a:t>Una forma más clara de decidir</a:t>
            </a:r>
          </a:p>
          <a:p>
            <a:pPr algn="l">
              <a:lnSpc>
                <a:spcPct val="95000"/>
              </a:lnSpc>
              <a:spcBef>
                <a:spcPts val="0"/>
              </a:spcBef>
              <a:spcAft>
                <a:spcPts val="0"/>
              </a:spcAft>
            </a:pPr>
            <a:r>
              <a:rPr sz="2400" b="1">
                <a:solidFill>
                  <a:srgbClr val="0A4A40"/>
                </a:solidFill>
                <a:latin typeface="Plus Jakarta Sans"/>
                <a:ea typeface="Plus Jakarta Sans"/>
                <a:cs typeface="Plus Jakarta Sans"/>
              </a:rPr>
              <a:t>frente al anaquel</a:t>
            </a:r>
          </a:p>
        </p:txBody>
      </p:sp>
      <p:sp>
        <p:nvSpPr>
          <p:cNvPr id="8" name="Rectangle 7"/>
          <p:cNvSpPr/>
          <p:nvPr/>
        </p:nvSpPr>
        <p:spPr>
          <a:xfrm>
            <a:off x="457200" y="3291840"/>
            <a:ext cx="1280160" cy="64008"/>
          </a:xfrm>
          <a:prstGeom prst="rect">
            <a:avLst/>
          </a:prstGeom>
          <a:solidFill>
            <a:srgbClr val="E8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566160"/>
            <a:ext cx="5669280" cy="347472"/>
          </a:xfrm>
          <a:prstGeom prst="rect">
            <a:avLst/>
          </a:prstGeom>
          <a:noFill/>
        </p:spPr>
        <p:txBody>
          <a:bodyPr wrap="square" lIns="0" rIns="0" tIns="0" bIns="0" anchor="t"/>
          <a:lstStyle/>
          <a:p>
            <a:pPr algn="l">
              <a:lnSpc>
                <a:spcPct val="95000"/>
              </a:lnSpc>
              <a:spcBef>
                <a:spcPts val="0"/>
              </a:spcBef>
              <a:spcAft>
                <a:spcPts val="0"/>
              </a:spcAft>
            </a:pPr>
            <a:r>
              <a:rPr sz="1800" b="1">
                <a:solidFill>
                  <a:srgbClr val="10231F"/>
                </a:solidFill>
                <a:latin typeface="Plus Jakarta Sans"/>
                <a:ea typeface="Plus Jakarta Sans"/>
                <a:cs typeface="Plus Jakarta Sans"/>
              </a:rPr>
              <a:t>Paola Castañeda</a:t>
            </a:r>
          </a:p>
        </p:txBody>
      </p:sp>
      <p:sp>
        <p:nvSpPr>
          <p:cNvPr id="10" name="Rounded Rectangle 9"/>
          <p:cNvSpPr/>
          <p:nvPr/>
        </p:nvSpPr>
        <p:spPr>
          <a:xfrm>
            <a:off x="457200" y="4160520"/>
            <a:ext cx="5943600" cy="640080"/>
          </a:xfrm>
          <a:prstGeom prst="roundRect">
            <a:avLst>
              <a:gd name="adj" fmla="val 12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4160520"/>
            <a:ext cx="640080" cy="640080"/>
          </a:xfrm>
          <a:prstGeom prst="rect">
            <a:avLst/>
          </a:prstGeom>
          <a:noFill/>
        </p:spPr>
        <p:txBody>
          <a:bodyPr wrap="square" lIns="0" rIns="0" tIns="0" bIns="0" anchor="ctr"/>
          <a:lstStyle/>
          <a:p>
            <a:pPr algn="l">
              <a:lnSpc>
                <a:spcPct val="95000"/>
              </a:lnSpc>
              <a:spcBef>
                <a:spcPts val="0"/>
              </a:spcBef>
              <a:spcAft>
                <a:spcPts val="0"/>
              </a:spcAft>
            </a:pPr>
            <a:r>
              <a:rPr sz="1800" b="1">
                <a:solidFill>
                  <a:srgbClr val="E86A2A"/>
                </a:solidFill>
                <a:latin typeface="Plus Jakarta Sans"/>
                <a:ea typeface="Plus Jakarta Sans"/>
                <a:cs typeface="Plus Jakarta Sans"/>
              </a:rPr>
              <a:t>01</a:t>
            </a:r>
          </a:p>
        </p:txBody>
      </p:sp>
      <p:sp>
        <p:nvSpPr>
          <p:cNvPr id="12" name="TextBox 11"/>
          <p:cNvSpPr txBox="1"/>
          <p:nvPr/>
        </p:nvSpPr>
        <p:spPr>
          <a:xfrm>
            <a:off x="1325880" y="4215383"/>
            <a:ext cx="4754880" cy="292608"/>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Encuentra</a:t>
            </a:r>
          </a:p>
        </p:txBody>
      </p:sp>
      <p:sp>
        <p:nvSpPr>
          <p:cNvPr id="13" name="TextBox 12"/>
          <p:cNvSpPr txBox="1"/>
          <p:nvPr/>
        </p:nvSpPr>
        <p:spPr>
          <a:xfrm>
            <a:off x="1325880" y="4471416"/>
            <a:ext cx="4754880" cy="256032"/>
          </a:xfrm>
          <a:prstGeom prst="rect">
            <a:avLst/>
          </a:prstGeom>
          <a:noFill/>
        </p:spPr>
        <p:txBody>
          <a:bodyPr wrap="square" lIns="0" rIns="0" tIns="0" bIns="0" anchor="t"/>
          <a:lstStyle/>
          <a:p>
            <a:pPr algn="l">
              <a:lnSpc>
                <a:spcPct val="95000"/>
              </a:lnSpc>
              <a:spcBef>
                <a:spcPts val="0"/>
              </a:spcBef>
              <a:spcAft>
                <a:spcPts val="0"/>
              </a:spcAft>
            </a:pPr>
            <a:r>
              <a:rPr sz="1300" b="0">
                <a:solidFill>
                  <a:srgbClr val="5E6864"/>
                </a:solidFill>
                <a:latin typeface="Plus Jakarta Sans"/>
                <a:ea typeface="Plus Jakarta Sans"/>
                <a:cs typeface="Plus Jakarta Sans"/>
              </a:rPr>
              <a:t>el producto que tienes enfrente</a:t>
            </a:r>
          </a:p>
        </p:txBody>
      </p:sp>
      <p:sp>
        <p:nvSpPr>
          <p:cNvPr id="14" name="Rounded Rectangle 13"/>
          <p:cNvSpPr/>
          <p:nvPr/>
        </p:nvSpPr>
        <p:spPr>
          <a:xfrm>
            <a:off x="457200" y="4892040"/>
            <a:ext cx="5943600" cy="640080"/>
          </a:xfrm>
          <a:prstGeom prst="roundRect">
            <a:avLst>
              <a:gd name="adj" fmla="val 12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892040"/>
            <a:ext cx="640080" cy="640080"/>
          </a:xfrm>
          <a:prstGeom prst="rect">
            <a:avLst/>
          </a:prstGeom>
          <a:noFill/>
        </p:spPr>
        <p:txBody>
          <a:bodyPr wrap="square" lIns="0" rIns="0" tIns="0" bIns="0" anchor="ctr"/>
          <a:lstStyle/>
          <a:p>
            <a:pPr algn="l">
              <a:lnSpc>
                <a:spcPct val="95000"/>
              </a:lnSpc>
              <a:spcBef>
                <a:spcPts val="0"/>
              </a:spcBef>
              <a:spcAft>
                <a:spcPts val="0"/>
              </a:spcAft>
            </a:pPr>
            <a:r>
              <a:rPr sz="1800" b="1">
                <a:solidFill>
                  <a:srgbClr val="E86A2A"/>
                </a:solidFill>
                <a:latin typeface="Plus Jakarta Sans"/>
                <a:ea typeface="Plus Jakarta Sans"/>
                <a:cs typeface="Plus Jakarta Sans"/>
              </a:rPr>
              <a:t>02</a:t>
            </a:r>
          </a:p>
        </p:txBody>
      </p:sp>
      <p:sp>
        <p:nvSpPr>
          <p:cNvPr id="16" name="TextBox 15"/>
          <p:cNvSpPr txBox="1"/>
          <p:nvPr/>
        </p:nvSpPr>
        <p:spPr>
          <a:xfrm>
            <a:off x="1325880" y="4946903"/>
            <a:ext cx="4754880" cy="292608"/>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Compara</a:t>
            </a:r>
          </a:p>
        </p:txBody>
      </p:sp>
      <p:sp>
        <p:nvSpPr>
          <p:cNvPr id="17" name="TextBox 16"/>
          <p:cNvSpPr txBox="1"/>
          <p:nvPr/>
        </p:nvSpPr>
        <p:spPr>
          <a:xfrm>
            <a:off x="1325880" y="5202936"/>
            <a:ext cx="4754880" cy="256032"/>
          </a:xfrm>
          <a:prstGeom prst="rect">
            <a:avLst/>
          </a:prstGeom>
          <a:noFill/>
        </p:spPr>
        <p:txBody>
          <a:bodyPr wrap="square" lIns="0" rIns="0" tIns="0" bIns="0" anchor="t"/>
          <a:lstStyle/>
          <a:p>
            <a:pPr algn="l">
              <a:lnSpc>
                <a:spcPct val="95000"/>
              </a:lnSpc>
              <a:spcBef>
                <a:spcPts val="0"/>
              </a:spcBef>
              <a:spcAft>
                <a:spcPts val="0"/>
              </a:spcAft>
            </a:pPr>
            <a:r>
              <a:rPr sz="1300" b="0">
                <a:solidFill>
                  <a:srgbClr val="5E6864"/>
                </a:solidFill>
                <a:latin typeface="Plus Jakarta Sans"/>
                <a:ea typeface="Plus Jakarta Sans"/>
                <a:cs typeface="Plus Jakarta Sans"/>
              </a:rPr>
              <a:t>con las prioridades declaradas</a:t>
            </a:r>
          </a:p>
        </p:txBody>
      </p:sp>
      <p:sp>
        <p:nvSpPr>
          <p:cNvPr id="18" name="Rounded Rectangle 17"/>
          <p:cNvSpPr/>
          <p:nvPr/>
        </p:nvSpPr>
        <p:spPr>
          <a:xfrm>
            <a:off x="457200" y="5623560"/>
            <a:ext cx="5943600" cy="640080"/>
          </a:xfrm>
          <a:prstGeom prst="roundRect">
            <a:avLst>
              <a:gd name="adj" fmla="val 12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5623560"/>
            <a:ext cx="640080" cy="640080"/>
          </a:xfrm>
          <a:prstGeom prst="rect">
            <a:avLst/>
          </a:prstGeom>
          <a:noFill/>
        </p:spPr>
        <p:txBody>
          <a:bodyPr wrap="square" lIns="0" rIns="0" tIns="0" bIns="0" anchor="ctr"/>
          <a:lstStyle/>
          <a:p>
            <a:pPr algn="l">
              <a:lnSpc>
                <a:spcPct val="95000"/>
              </a:lnSpc>
              <a:spcBef>
                <a:spcPts val="0"/>
              </a:spcBef>
              <a:spcAft>
                <a:spcPts val="0"/>
              </a:spcAft>
            </a:pPr>
            <a:r>
              <a:rPr sz="1800" b="1">
                <a:solidFill>
                  <a:srgbClr val="E86A2A"/>
                </a:solidFill>
                <a:latin typeface="Plus Jakarta Sans"/>
                <a:ea typeface="Plus Jakarta Sans"/>
                <a:cs typeface="Plus Jakarta Sans"/>
              </a:rPr>
              <a:t>03</a:t>
            </a:r>
          </a:p>
        </p:txBody>
      </p:sp>
      <p:sp>
        <p:nvSpPr>
          <p:cNvPr id="20" name="TextBox 19"/>
          <p:cNvSpPr txBox="1"/>
          <p:nvPr/>
        </p:nvSpPr>
        <p:spPr>
          <a:xfrm>
            <a:off x="1325880" y="5678424"/>
            <a:ext cx="4754880" cy="292608"/>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Elige</a:t>
            </a:r>
          </a:p>
        </p:txBody>
      </p:sp>
      <p:sp>
        <p:nvSpPr>
          <p:cNvPr id="21" name="TextBox 20"/>
          <p:cNvSpPr txBox="1"/>
          <p:nvPr/>
        </p:nvSpPr>
        <p:spPr>
          <a:xfrm>
            <a:off x="1325880" y="5934456"/>
            <a:ext cx="4754880" cy="256032"/>
          </a:xfrm>
          <a:prstGeom prst="rect">
            <a:avLst/>
          </a:prstGeom>
          <a:noFill/>
        </p:spPr>
        <p:txBody>
          <a:bodyPr wrap="square" lIns="0" rIns="0" tIns="0" bIns="0" anchor="t"/>
          <a:lstStyle/>
          <a:p>
            <a:pPr algn="l">
              <a:lnSpc>
                <a:spcPct val="95000"/>
              </a:lnSpc>
              <a:spcBef>
                <a:spcPts val="0"/>
              </a:spcBef>
              <a:spcAft>
                <a:spcPts val="0"/>
              </a:spcAft>
            </a:pPr>
            <a:r>
              <a:rPr sz="1300" b="0">
                <a:solidFill>
                  <a:srgbClr val="5E6864"/>
                </a:solidFill>
                <a:latin typeface="Plus Jakarta Sans"/>
                <a:ea typeface="Plus Jakarta Sans"/>
                <a:cs typeface="Plus Jakarta Sans"/>
              </a:rPr>
              <a:t>y revisa lo que informa el carrito</a:t>
            </a:r>
          </a:p>
        </p:txBody>
      </p:sp>
      <p:pic>
        <p:nvPicPr>
          <p:cNvPr id="22" name="Picture 21" descr="s1-nuti.png"/>
          <p:cNvPicPr>
            <a:picLocks noChangeAspect="1"/>
          </p:cNvPicPr>
          <p:nvPr/>
        </p:nvPicPr>
        <p:blipFill>
          <a:blip r:embed="rId2"/>
          <a:stretch>
            <a:fillRect/>
          </a:stretch>
        </p:blipFill>
        <p:spPr>
          <a:xfrm>
            <a:off x="7818120" y="164592"/>
            <a:ext cx="3224233" cy="4754880"/>
          </a:xfrm>
          <a:prstGeom prst="rect">
            <a:avLst/>
          </a:prstGeom>
        </p:spPr>
      </p:pic>
      <p:pic>
        <p:nvPicPr>
          <p:cNvPr id="23" name="Picture 22" descr="s1-hero.png"/>
          <p:cNvPicPr>
            <a:picLocks noChangeAspect="1"/>
          </p:cNvPicPr>
          <p:nvPr/>
        </p:nvPicPr>
        <p:blipFill>
          <a:blip r:embed="rId3"/>
          <a:stretch>
            <a:fillRect/>
          </a:stretch>
        </p:blipFill>
        <p:spPr>
          <a:xfrm>
            <a:off x="6931152" y="5074920"/>
            <a:ext cx="5029200" cy="87710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7315200" cy="256032"/>
          </a:xfrm>
          <a:prstGeom prst="rect">
            <a:avLst/>
          </a:prstGeom>
          <a:noFill/>
        </p:spPr>
        <p:txBody>
          <a:bodyPr wrap="square" lIns="0" rIns="0" tIns="0" bIns="0" anchor="t"/>
          <a:lstStyle/>
          <a:p>
            <a:pPr algn="l">
              <a:lnSpc>
                <a:spcPct val="95000"/>
              </a:lnSpc>
              <a:spcBef>
                <a:spcPts val="0"/>
              </a:spcBef>
              <a:spcAft>
                <a:spcPts val="0"/>
              </a:spcAft>
            </a:pPr>
            <a:r>
              <a:rPr sz="1300" b="1">
                <a:solidFill>
                  <a:srgbClr val="0F6B63"/>
                </a:solidFill>
                <a:latin typeface="Plus Jakarta Sans"/>
                <a:ea typeface="Plus Jakarta Sans"/>
                <a:cs typeface="Plus Jakarta Sans"/>
              </a:rPr>
              <a:t>02   /   PROBLEMA</a:t>
            </a:r>
          </a:p>
        </p:txBody>
      </p:sp>
      <p:sp>
        <p:nvSpPr>
          <p:cNvPr id="3" name="TextBox 2"/>
          <p:cNvSpPr txBox="1"/>
          <p:nvPr/>
        </p:nvSpPr>
        <p:spPr>
          <a:xfrm>
            <a:off x="384048" y="530352"/>
            <a:ext cx="11338560" cy="457200"/>
          </a:xfrm>
          <a:prstGeom prst="rect">
            <a:avLst/>
          </a:prstGeom>
          <a:noFill/>
        </p:spPr>
        <p:txBody>
          <a:bodyPr wrap="square" lIns="0" rIns="0" tIns="0" bIns="0" anchor="t"/>
          <a:lstStyle/>
          <a:p>
            <a:pPr algn="l">
              <a:lnSpc>
                <a:spcPct val="95000"/>
              </a:lnSpc>
              <a:spcBef>
                <a:spcPts val="0"/>
              </a:spcBef>
              <a:spcAft>
                <a:spcPts val="0"/>
              </a:spcAft>
            </a:pPr>
            <a:r>
              <a:rPr sz="2800" b="1">
                <a:solidFill>
                  <a:srgbClr val="10231F"/>
                </a:solidFill>
                <a:latin typeface="Plus Jakarta Sans"/>
                <a:ea typeface="Plus Jakarta Sans"/>
                <a:cs typeface="Plus Jakarta Sans"/>
              </a:rPr>
              <a:t>Elegir un empacado reparte la información</a:t>
            </a:r>
          </a:p>
        </p:txBody>
      </p:sp>
      <p:sp>
        <p:nvSpPr>
          <p:cNvPr id="4" name="TextBox 3"/>
          <p:cNvSpPr txBox="1"/>
          <p:nvPr/>
        </p:nvSpPr>
        <p:spPr>
          <a:xfrm>
            <a:off x="384048" y="1097280"/>
            <a:ext cx="3840480" cy="256032"/>
          </a:xfrm>
          <a:prstGeom prst="rect">
            <a:avLst/>
          </a:prstGeom>
          <a:noFill/>
        </p:spPr>
        <p:txBody>
          <a:bodyPr wrap="square" lIns="0" rIns="0" tIns="0" bIns="0" anchor="t"/>
          <a:lstStyle/>
          <a:p>
            <a:pPr algn="l">
              <a:lnSpc>
                <a:spcPct val="95000"/>
              </a:lnSpc>
              <a:spcBef>
                <a:spcPts val="0"/>
              </a:spcBef>
              <a:spcAft>
                <a:spcPts val="0"/>
              </a:spcAft>
            </a:pPr>
            <a:r>
              <a:rPr sz="1200" b="1">
                <a:solidFill>
                  <a:srgbClr val="E86A2A"/>
                </a:solidFill>
                <a:latin typeface="Plus Jakarta Sans"/>
                <a:ea typeface="Plus Jakarta Sans"/>
                <a:cs typeface="Plus Jakarta Sans"/>
              </a:rPr>
              <a:t>DECISIÓN DE COMPRA</a:t>
            </a:r>
          </a:p>
        </p:txBody>
      </p:sp>
      <p:sp>
        <p:nvSpPr>
          <p:cNvPr id="5" name="Rectangle 4"/>
          <p:cNvSpPr/>
          <p:nvPr/>
        </p:nvSpPr>
        <p:spPr>
          <a:xfrm>
            <a:off x="2331720" y="1207008"/>
            <a:ext cx="9418320" cy="13716"/>
          </a:xfrm>
          <a:prstGeom prst="rect">
            <a:avLst/>
          </a:prstGeom>
          <a:solidFill>
            <a:srgbClr val="E6DF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1481328"/>
            <a:ext cx="2194560" cy="3310128"/>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1481328"/>
            <a:ext cx="2194560" cy="91440"/>
          </a:xfrm>
          <a:prstGeom prst="rect">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737360"/>
            <a:ext cx="1874519" cy="502920"/>
          </a:xfrm>
          <a:prstGeom prst="rect">
            <a:avLst/>
          </a:prstGeom>
          <a:noFill/>
        </p:spPr>
        <p:txBody>
          <a:bodyPr wrap="square" lIns="0" rIns="0" tIns="0" bIns="0" anchor="t"/>
          <a:lstStyle/>
          <a:p>
            <a:pPr algn="l">
              <a:lnSpc>
                <a:spcPct val="95000"/>
              </a:lnSpc>
              <a:spcBef>
                <a:spcPts val="0"/>
              </a:spcBef>
              <a:spcAft>
                <a:spcPts val="0"/>
              </a:spcAft>
            </a:pPr>
            <a:r>
              <a:rPr sz="2600" b="1">
                <a:solidFill>
                  <a:srgbClr val="0F6B63"/>
                </a:solidFill>
                <a:latin typeface="Plus Jakarta Sans"/>
                <a:ea typeface="Plus Jakarta Sans"/>
                <a:cs typeface="Plus Jakarta Sans"/>
              </a:rPr>
              <a:t>01</a:t>
            </a:r>
          </a:p>
        </p:txBody>
      </p:sp>
      <p:sp>
        <p:nvSpPr>
          <p:cNvPr id="9" name="TextBox 8"/>
          <p:cNvSpPr txBox="1"/>
          <p:nvPr/>
        </p:nvSpPr>
        <p:spPr>
          <a:xfrm>
            <a:off x="530352" y="2331720"/>
            <a:ext cx="1901952" cy="640080"/>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Nutrición</a:t>
            </a:r>
          </a:p>
        </p:txBody>
      </p:sp>
      <p:sp>
        <p:nvSpPr>
          <p:cNvPr id="10" name="TextBox 9"/>
          <p:cNvSpPr txBox="1"/>
          <p:nvPr/>
        </p:nvSpPr>
        <p:spPr>
          <a:xfrm>
            <a:off x="530352" y="3108960"/>
            <a:ext cx="1901952" cy="960120"/>
          </a:xfrm>
          <a:prstGeom prst="rect">
            <a:avLst/>
          </a:prstGeom>
          <a:noFill/>
        </p:spPr>
        <p:txBody>
          <a:bodyPr wrap="square" lIns="0" rIns="0" tIns="0" bIns="0" anchor="t"/>
          <a:lstStyle/>
          <a:p>
            <a:pPr algn="l">
              <a:lnSpc>
                <a:spcPct val="95000"/>
              </a:lnSpc>
              <a:spcBef>
                <a:spcPts val="0"/>
              </a:spcBef>
              <a:spcAft>
                <a:spcPts val="0"/>
              </a:spcAft>
            </a:pPr>
            <a:r>
              <a:rPr sz="1500" b="0">
                <a:solidFill>
                  <a:srgbClr val="5E6864"/>
                </a:solidFill>
                <a:latin typeface="Plus Jakarta Sans"/>
                <a:ea typeface="Plus Jakarta Sans"/>
                <a:cs typeface="Plus Jakarta Sans"/>
              </a:rPr>
              <a:t>¿Qué aporta?</a:t>
            </a:r>
          </a:p>
        </p:txBody>
      </p:sp>
      <p:sp>
        <p:nvSpPr>
          <p:cNvPr id="11" name="Rounded Rectangle 10"/>
          <p:cNvSpPr/>
          <p:nvPr/>
        </p:nvSpPr>
        <p:spPr>
          <a:xfrm>
            <a:off x="2724912" y="1481328"/>
            <a:ext cx="2194560" cy="3310128"/>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24912" y="1481328"/>
            <a:ext cx="2194560" cy="91440"/>
          </a:xfrm>
          <a:prstGeom prst="rect">
            <a:avLst/>
          </a:prstGeom>
          <a:solidFill>
            <a:srgbClr val="0A4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1216" y="1737360"/>
            <a:ext cx="1874519" cy="502920"/>
          </a:xfrm>
          <a:prstGeom prst="rect">
            <a:avLst/>
          </a:prstGeom>
          <a:noFill/>
        </p:spPr>
        <p:txBody>
          <a:bodyPr wrap="square" lIns="0" rIns="0" tIns="0" bIns="0" anchor="t"/>
          <a:lstStyle/>
          <a:p>
            <a:pPr algn="l">
              <a:lnSpc>
                <a:spcPct val="95000"/>
              </a:lnSpc>
              <a:spcBef>
                <a:spcPts val="0"/>
              </a:spcBef>
              <a:spcAft>
                <a:spcPts val="0"/>
              </a:spcAft>
            </a:pPr>
            <a:r>
              <a:rPr sz="2600" b="1">
                <a:solidFill>
                  <a:srgbClr val="0A4A40"/>
                </a:solidFill>
                <a:latin typeface="Plus Jakarta Sans"/>
                <a:ea typeface="Plus Jakarta Sans"/>
                <a:cs typeface="Plus Jakarta Sans"/>
              </a:rPr>
              <a:t>02</a:t>
            </a:r>
          </a:p>
        </p:txBody>
      </p:sp>
      <p:sp>
        <p:nvSpPr>
          <p:cNvPr id="14" name="TextBox 13"/>
          <p:cNvSpPr txBox="1"/>
          <p:nvPr/>
        </p:nvSpPr>
        <p:spPr>
          <a:xfrm>
            <a:off x="2871216" y="2331720"/>
            <a:ext cx="1901952" cy="640080"/>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Procesamiento</a:t>
            </a:r>
          </a:p>
        </p:txBody>
      </p:sp>
      <p:sp>
        <p:nvSpPr>
          <p:cNvPr id="15" name="TextBox 14"/>
          <p:cNvSpPr txBox="1"/>
          <p:nvPr/>
        </p:nvSpPr>
        <p:spPr>
          <a:xfrm>
            <a:off x="2871216" y="3108960"/>
            <a:ext cx="1901952" cy="960120"/>
          </a:xfrm>
          <a:prstGeom prst="rect">
            <a:avLst/>
          </a:prstGeom>
          <a:noFill/>
        </p:spPr>
        <p:txBody>
          <a:bodyPr wrap="square" lIns="0" rIns="0" tIns="0" bIns="0" anchor="t"/>
          <a:lstStyle/>
          <a:p>
            <a:pPr algn="l">
              <a:lnSpc>
                <a:spcPct val="95000"/>
              </a:lnSpc>
              <a:spcBef>
                <a:spcPts val="0"/>
              </a:spcBef>
              <a:spcAft>
                <a:spcPts val="0"/>
              </a:spcAft>
            </a:pPr>
            <a:r>
              <a:rPr sz="1500" b="0">
                <a:solidFill>
                  <a:srgbClr val="5E6864"/>
                </a:solidFill>
                <a:latin typeface="Plus Jakarta Sans"/>
                <a:ea typeface="Plus Jakarta Sans"/>
                <a:cs typeface="Plus Jakarta Sans"/>
              </a:rPr>
              <a:t>¿Cómo fue procesado?</a:t>
            </a:r>
          </a:p>
        </p:txBody>
      </p:sp>
      <p:sp>
        <p:nvSpPr>
          <p:cNvPr id="16" name="Rounded Rectangle 15"/>
          <p:cNvSpPr/>
          <p:nvPr/>
        </p:nvSpPr>
        <p:spPr>
          <a:xfrm>
            <a:off x="5065776" y="1481328"/>
            <a:ext cx="2194560" cy="3310128"/>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65776" y="1481328"/>
            <a:ext cx="2194560" cy="91440"/>
          </a:xfrm>
          <a:prstGeom prst="rect">
            <a:avLst/>
          </a:prstGeom>
          <a:solidFill>
            <a:srgbClr val="E8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1737360"/>
            <a:ext cx="1874519" cy="502920"/>
          </a:xfrm>
          <a:prstGeom prst="rect">
            <a:avLst/>
          </a:prstGeom>
          <a:noFill/>
        </p:spPr>
        <p:txBody>
          <a:bodyPr wrap="square" lIns="0" rIns="0" tIns="0" bIns="0" anchor="t"/>
          <a:lstStyle/>
          <a:p>
            <a:pPr algn="l">
              <a:lnSpc>
                <a:spcPct val="95000"/>
              </a:lnSpc>
              <a:spcBef>
                <a:spcPts val="0"/>
              </a:spcBef>
              <a:spcAft>
                <a:spcPts val="0"/>
              </a:spcAft>
            </a:pPr>
            <a:r>
              <a:rPr sz="2600" b="1">
                <a:solidFill>
                  <a:srgbClr val="E86A2A"/>
                </a:solidFill>
                <a:latin typeface="Plus Jakarta Sans"/>
                <a:ea typeface="Plus Jakarta Sans"/>
                <a:cs typeface="Plus Jakarta Sans"/>
              </a:rPr>
              <a:t>03</a:t>
            </a:r>
          </a:p>
        </p:txBody>
      </p:sp>
      <p:sp>
        <p:nvSpPr>
          <p:cNvPr id="19" name="TextBox 18"/>
          <p:cNvSpPr txBox="1"/>
          <p:nvPr/>
        </p:nvSpPr>
        <p:spPr>
          <a:xfrm>
            <a:off x="5212080" y="2331720"/>
            <a:ext cx="1901952" cy="640080"/>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Etiquetas</a:t>
            </a:r>
          </a:p>
        </p:txBody>
      </p:sp>
      <p:sp>
        <p:nvSpPr>
          <p:cNvPr id="20" name="TextBox 19"/>
          <p:cNvSpPr txBox="1"/>
          <p:nvPr/>
        </p:nvSpPr>
        <p:spPr>
          <a:xfrm>
            <a:off x="5212080" y="3108960"/>
            <a:ext cx="1901952" cy="960120"/>
          </a:xfrm>
          <a:prstGeom prst="rect">
            <a:avLst/>
          </a:prstGeom>
          <a:noFill/>
        </p:spPr>
        <p:txBody>
          <a:bodyPr wrap="square" lIns="0" rIns="0" tIns="0" bIns="0" anchor="t"/>
          <a:lstStyle/>
          <a:p>
            <a:pPr algn="l">
              <a:lnSpc>
                <a:spcPct val="95000"/>
              </a:lnSpc>
              <a:spcBef>
                <a:spcPts val="0"/>
              </a:spcBef>
              <a:spcAft>
                <a:spcPts val="0"/>
              </a:spcAft>
            </a:pPr>
            <a:r>
              <a:rPr sz="1500" b="0">
                <a:solidFill>
                  <a:srgbClr val="5E6864"/>
                </a:solidFill>
                <a:latin typeface="Plus Jakarta Sans"/>
                <a:ea typeface="Plus Jakarta Sans"/>
                <a:cs typeface="Plus Jakarta Sans"/>
              </a:rPr>
              <a:t>¿Qué sellos tiene?</a:t>
            </a:r>
          </a:p>
        </p:txBody>
      </p:sp>
      <p:sp>
        <p:nvSpPr>
          <p:cNvPr id="21" name="Rounded Rectangle 20"/>
          <p:cNvSpPr/>
          <p:nvPr/>
        </p:nvSpPr>
        <p:spPr>
          <a:xfrm>
            <a:off x="7406640" y="1481328"/>
            <a:ext cx="2194560" cy="3310128"/>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06640" y="1481328"/>
            <a:ext cx="2194560" cy="914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52944" y="1737360"/>
            <a:ext cx="1874519" cy="502920"/>
          </a:xfrm>
          <a:prstGeom prst="rect">
            <a:avLst/>
          </a:prstGeom>
          <a:noFill/>
        </p:spPr>
        <p:txBody>
          <a:bodyPr wrap="square" lIns="0" rIns="0" tIns="0" bIns="0" anchor="t"/>
          <a:lstStyle/>
          <a:p>
            <a:pPr algn="l">
              <a:lnSpc>
                <a:spcPct val="95000"/>
              </a:lnSpc>
              <a:spcBef>
                <a:spcPts val="0"/>
              </a:spcBef>
              <a:spcAft>
                <a:spcPts val="0"/>
              </a:spcAft>
            </a:pPr>
            <a:r>
              <a:rPr sz="2600" b="1">
                <a:solidFill>
                  <a:srgbClr val="C41E3A"/>
                </a:solidFill>
                <a:latin typeface="Plus Jakarta Sans"/>
                <a:ea typeface="Plus Jakarta Sans"/>
                <a:cs typeface="Plus Jakarta Sans"/>
              </a:rPr>
              <a:t>04</a:t>
            </a:r>
          </a:p>
        </p:txBody>
      </p:sp>
      <p:sp>
        <p:nvSpPr>
          <p:cNvPr id="24" name="TextBox 23"/>
          <p:cNvSpPr txBox="1"/>
          <p:nvPr/>
        </p:nvSpPr>
        <p:spPr>
          <a:xfrm>
            <a:off x="7552944" y="2331720"/>
            <a:ext cx="1901952" cy="640080"/>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Restricciones</a:t>
            </a:r>
          </a:p>
        </p:txBody>
      </p:sp>
      <p:sp>
        <p:nvSpPr>
          <p:cNvPr id="25" name="TextBox 24"/>
          <p:cNvSpPr txBox="1"/>
          <p:nvPr/>
        </p:nvSpPr>
        <p:spPr>
          <a:xfrm>
            <a:off x="7552944" y="3108960"/>
            <a:ext cx="1901952" cy="960120"/>
          </a:xfrm>
          <a:prstGeom prst="rect">
            <a:avLst/>
          </a:prstGeom>
          <a:noFill/>
        </p:spPr>
        <p:txBody>
          <a:bodyPr wrap="square" lIns="0" rIns="0" tIns="0" bIns="0" anchor="t"/>
          <a:lstStyle/>
          <a:p>
            <a:pPr algn="l">
              <a:lnSpc>
                <a:spcPct val="95000"/>
              </a:lnSpc>
              <a:spcBef>
                <a:spcPts val="0"/>
              </a:spcBef>
              <a:spcAft>
                <a:spcPts val="0"/>
              </a:spcAft>
            </a:pPr>
            <a:r>
              <a:rPr sz="1500" b="0">
                <a:solidFill>
                  <a:srgbClr val="5E6864"/>
                </a:solidFill>
                <a:latin typeface="Plus Jakarta Sans"/>
                <a:ea typeface="Plus Jakarta Sans"/>
                <a:cs typeface="Plus Jakarta Sans"/>
              </a:rPr>
              <a:t>¿Hay algo que deba evitar?</a:t>
            </a:r>
          </a:p>
        </p:txBody>
      </p:sp>
      <p:sp>
        <p:nvSpPr>
          <p:cNvPr id="26" name="Rounded Rectangle 25"/>
          <p:cNvSpPr/>
          <p:nvPr/>
        </p:nvSpPr>
        <p:spPr>
          <a:xfrm>
            <a:off x="9747504" y="1481328"/>
            <a:ext cx="2194560" cy="3310128"/>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47504" y="1481328"/>
            <a:ext cx="2194560" cy="91440"/>
          </a:xfrm>
          <a:prstGeom prst="rect">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93808" y="1737360"/>
            <a:ext cx="1874519" cy="502920"/>
          </a:xfrm>
          <a:prstGeom prst="rect">
            <a:avLst/>
          </a:prstGeom>
          <a:noFill/>
        </p:spPr>
        <p:txBody>
          <a:bodyPr wrap="square" lIns="0" rIns="0" tIns="0" bIns="0" anchor="t"/>
          <a:lstStyle/>
          <a:p>
            <a:pPr algn="l">
              <a:lnSpc>
                <a:spcPct val="95000"/>
              </a:lnSpc>
              <a:spcBef>
                <a:spcPts val="0"/>
              </a:spcBef>
              <a:spcAft>
                <a:spcPts val="0"/>
              </a:spcAft>
            </a:pPr>
            <a:r>
              <a:rPr sz="2600" b="1">
                <a:solidFill>
                  <a:srgbClr val="0F6B63"/>
                </a:solidFill>
                <a:latin typeface="Plus Jakarta Sans"/>
                <a:ea typeface="Plus Jakarta Sans"/>
                <a:cs typeface="Plus Jakarta Sans"/>
              </a:rPr>
              <a:t>05</a:t>
            </a:r>
          </a:p>
        </p:txBody>
      </p:sp>
      <p:sp>
        <p:nvSpPr>
          <p:cNvPr id="29" name="TextBox 28"/>
          <p:cNvSpPr txBox="1"/>
          <p:nvPr/>
        </p:nvSpPr>
        <p:spPr>
          <a:xfrm>
            <a:off x="9893808" y="2331720"/>
            <a:ext cx="1901952" cy="640080"/>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Precio</a:t>
            </a:r>
          </a:p>
        </p:txBody>
      </p:sp>
      <p:sp>
        <p:nvSpPr>
          <p:cNvPr id="30" name="TextBox 29"/>
          <p:cNvSpPr txBox="1"/>
          <p:nvPr/>
        </p:nvSpPr>
        <p:spPr>
          <a:xfrm>
            <a:off x="9893808" y="3108960"/>
            <a:ext cx="1901952" cy="960120"/>
          </a:xfrm>
          <a:prstGeom prst="rect">
            <a:avLst/>
          </a:prstGeom>
          <a:noFill/>
        </p:spPr>
        <p:txBody>
          <a:bodyPr wrap="square" lIns="0" rIns="0" tIns="0" bIns="0" anchor="t"/>
          <a:lstStyle/>
          <a:p>
            <a:pPr algn="l">
              <a:lnSpc>
                <a:spcPct val="95000"/>
              </a:lnSpc>
              <a:spcBef>
                <a:spcPts val="0"/>
              </a:spcBef>
              <a:spcAft>
                <a:spcPts val="0"/>
              </a:spcAft>
            </a:pPr>
            <a:r>
              <a:rPr sz="1500" b="0">
                <a:solidFill>
                  <a:srgbClr val="5E6864"/>
                </a:solidFill>
                <a:latin typeface="Plus Jakarta Sans"/>
                <a:ea typeface="Plus Jakarta Sans"/>
                <a:cs typeface="Plus Jakarta Sans"/>
              </a:rPr>
              <a:t>¿Cuánto cuesta?</a:t>
            </a:r>
          </a:p>
        </p:txBody>
      </p:sp>
      <p:sp>
        <p:nvSpPr>
          <p:cNvPr id="31" name="Rectangle 30"/>
          <p:cNvSpPr/>
          <p:nvPr/>
        </p:nvSpPr>
        <p:spPr>
          <a:xfrm>
            <a:off x="0" y="4983480"/>
            <a:ext cx="12191695" cy="1874519"/>
          </a:xfrm>
          <a:prstGeom prst="rect">
            <a:avLst/>
          </a:prstGeom>
          <a:solidFill>
            <a:srgbClr val="0A4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349240"/>
            <a:ext cx="11155680" cy="640080"/>
          </a:xfrm>
          <a:prstGeom prst="rect">
            <a:avLst/>
          </a:prstGeom>
          <a:noFill/>
        </p:spPr>
        <p:txBody>
          <a:bodyPr wrap="square" lIns="0" rIns="0" tIns="0" bIns="0" anchor="t"/>
          <a:lstStyle/>
          <a:p>
            <a:pPr algn="l">
              <a:lnSpc>
                <a:spcPct val="95000"/>
              </a:lnSpc>
              <a:spcBef>
                <a:spcPts val="0"/>
              </a:spcBef>
              <a:spcAft>
                <a:spcPts val="0"/>
              </a:spcAft>
            </a:pPr>
            <a:r>
              <a:rPr sz="3200" b="1">
                <a:solidFill>
                  <a:srgbClr val="FFFFFF"/>
                </a:solidFill>
                <a:latin typeface="Plus Jakarta Sans"/>
                <a:ea typeface="Plus Jakarta Sans"/>
                <a:cs typeface="Plus Jakarta Sans"/>
              </a:rPr>
              <a:t>Un dato ausente no es un cero.</a:t>
            </a:r>
          </a:p>
        </p:txBody>
      </p:sp>
      <p:sp>
        <p:nvSpPr>
          <p:cNvPr id="33" name="TextBox 32"/>
          <p:cNvSpPr txBox="1"/>
          <p:nvPr/>
        </p:nvSpPr>
        <p:spPr>
          <a:xfrm>
            <a:off x="457200" y="6035040"/>
            <a:ext cx="10058400" cy="320040"/>
          </a:xfrm>
          <a:prstGeom prst="rect">
            <a:avLst/>
          </a:prstGeom>
          <a:noFill/>
        </p:spPr>
        <p:txBody>
          <a:bodyPr wrap="square" lIns="0" rIns="0" tIns="0" bIns="0" anchor="t"/>
          <a:lstStyle/>
          <a:p>
            <a:pPr algn="l">
              <a:lnSpc>
                <a:spcPct val="95000"/>
              </a:lnSpc>
              <a:spcBef>
                <a:spcPts val="0"/>
              </a:spcBef>
              <a:spcAft>
                <a:spcPts val="0"/>
              </a:spcAft>
            </a:pPr>
            <a:r>
              <a:rPr sz="1500" b="0">
                <a:solidFill>
                  <a:srgbClr val="D5E8E4"/>
                </a:solidFill>
                <a:latin typeface="Plus Jakarta Sans"/>
                <a:ea typeface="Plus Jakarta Sans"/>
                <a:cs typeface="Plus Jakarta Sans"/>
              </a:rPr>
              <a:t>Si falta un dato, no se lee como favorable ni como desfavorable.</a:t>
            </a:r>
          </a:p>
        </p:txBody>
      </p:sp>
      <p:sp>
        <p:nvSpPr>
          <p:cNvPr id="34" name="TextBox 33"/>
          <p:cNvSpPr txBox="1"/>
          <p:nvPr/>
        </p:nvSpPr>
        <p:spPr>
          <a:xfrm>
            <a:off x="11109960" y="6355080"/>
            <a:ext cx="640080" cy="256032"/>
          </a:xfrm>
          <a:prstGeom prst="rect">
            <a:avLst/>
          </a:prstGeom>
          <a:noFill/>
        </p:spPr>
        <p:txBody>
          <a:bodyPr wrap="square" lIns="0" rIns="0" tIns="0" bIns="0" anchor="t"/>
          <a:lstStyle/>
          <a:p>
            <a:pPr algn="r">
              <a:lnSpc>
                <a:spcPct val="95000"/>
              </a:lnSpc>
              <a:spcBef>
                <a:spcPts val="0"/>
              </a:spcBef>
              <a:spcAft>
                <a:spcPts val="0"/>
              </a:spcAft>
            </a:pPr>
            <a:r>
              <a:rPr sz="1200" b="1">
                <a:solidFill>
                  <a:srgbClr val="9FCFC6"/>
                </a:solidFill>
                <a:latin typeface="Plus Jakarta Sans"/>
                <a:ea typeface="Plus Jakarta Sans"/>
                <a:cs typeface="Plus Jakarta San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7315200" cy="256032"/>
          </a:xfrm>
          <a:prstGeom prst="rect">
            <a:avLst/>
          </a:prstGeom>
          <a:noFill/>
        </p:spPr>
        <p:txBody>
          <a:bodyPr wrap="square" lIns="0" rIns="0" tIns="0" bIns="0" anchor="t"/>
          <a:lstStyle/>
          <a:p>
            <a:pPr algn="l">
              <a:lnSpc>
                <a:spcPct val="95000"/>
              </a:lnSpc>
              <a:spcBef>
                <a:spcPts val="0"/>
              </a:spcBef>
              <a:spcAft>
                <a:spcPts val="0"/>
              </a:spcAft>
            </a:pPr>
            <a:r>
              <a:rPr sz="1300" b="1">
                <a:solidFill>
                  <a:srgbClr val="0F6B63"/>
                </a:solidFill>
                <a:latin typeface="Plus Jakarta Sans"/>
                <a:ea typeface="Plus Jakarta Sans"/>
                <a:cs typeface="Plus Jakarta Sans"/>
              </a:rPr>
              <a:t>03   /   PERSONA</a:t>
            </a:r>
          </a:p>
        </p:txBody>
      </p:sp>
      <p:sp>
        <p:nvSpPr>
          <p:cNvPr id="3" name="TextBox 2"/>
          <p:cNvSpPr txBox="1"/>
          <p:nvPr/>
        </p:nvSpPr>
        <p:spPr>
          <a:xfrm>
            <a:off x="11109960" y="6510528"/>
            <a:ext cx="640080" cy="237744"/>
          </a:xfrm>
          <a:prstGeom prst="rect">
            <a:avLst/>
          </a:prstGeom>
          <a:noFill/>
        </p:spPr>
        <p:txBody>
          <a:bodyPr wrap="square" lIns="0" rIns="0" tIns="0" bIns="0" anchor="t"/>
          <a:lstStyle/>
          <a:p>
            <a:pPr algn="r">
              <a:lnSpc>
                <a:spcPct val="95000"/>
              </a:lnSpc>
              <a:spcBef>
                <a:spcPts val="0"/>
              </a:spcBef>
              <a:spcAft>
                <a:spcPts val="0"/>
              </a:spcAft>
            </a:pPr>
            <a:r>
              <a:rPr sz="1200" b="1">
                <a:solidFill>
                  <a:srgbClr val="0F6B63"/>
                </a:solidFill>
                <a:latin typeface="Plus Jakarta Sans"/>
                <a:ea typeface="Plus Jakarta Sans"/>
                <a:cs typeface="Plus Jakarta Sans"/>
              </a:rPr>
              <a:t>03</a:t>
            </a:r>
          </a:p>
        </p:txBody>
      </p:sp>
      <p:sp>
        <p:nvSpPr>
          <p:cNvPr id="4" name="TextBox 3"/>
          <p:cNvSpPr txBox="1"/>
          <p:nvPr/>
        </p:nvSpPr>
        <p:spPr>
          <a:xfrm>
            <a:off x="384048" y="530352"/>
            <a:ext cx="10972800" cy="457200"/>
          </a:xfrm>
          <a:prstGeom prst="rect">
            <a:avLst/>
          </a:prstGeom>
          <a:noFill/>
        </p:spPr>
        <p:txBody>
          <a:bodyPr wrap="square" lIns="0" rIns="0" tIns="0" bIns="0" anchor="t"/>
          <a:lstStyle/>
          <a:p>
            <a:pPr algn="l">
              <a:lnSpc>
                <a:spcPct val="95000"/>
              </a:lnSpc>
              <a:spcBef>
                <a:spcPts val="0"/>
              </a:spcBef>
              <a:spcAft>
                <a:spcPts val="0"/>
              </a:spcAft>
            </a:pPr>
            <a:r>
              <a:rPr sz="3000" b="1">
                <a:solidFill>
                  <a:srgbClr val="10231F"/>
                </a:solidFill>
                <a:latin typeface="Plus Jakarta Sans"/>
                <a:ea typeface="Plus Jakarta Sans"/>
                <a:cs typeface="Plus Jakarta Sans"/>
              </a:rPr>
              <a:t>La persona dice qué le importa</a:t>
            </a:r>
          </a:p>
        </p:txBody>
      </p:sp>
      <p:sp>
        <p:nvSpPr>
          <p:cNvPr id="5" name="Rounded Rectangle 4"/>
          <p:cNvSpPr/>
          <p:nvPr/>
        </p:nvSpPr>
        <p:spPr>
          <a:xfrm>
            <a:off x="384048" y="1170432"/>
            <a:ext cx="7040880" cy="1417320"/>
          </a:xfrm>
          <a:prstGeom prst="roundRect">
            <a:avLst>
              <a:gd name="adj" fmla="val 10000"/>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70432"/>
            <a:ext cx="1188720" cy="1417320"/>
          </a:xfrm>
          <a:prstGeom prst="rect">
            <a:avLst/>
          </a:prstGeom>
          <a:noFill/>
        </p:spPr>
        <p:txBody>
          <a:bodyPr wrap="square" lIns="0" rIns="0" tIns="0" bIns="0" anchor="ctr"/>
          <a:lstStyle/>
          <a:p>
            <a:pPr algn="l">
              <a:lnSpc>
                <a:spcPct val="95000"/>
              </a:lnSpc>
              <a:spcBef>
                <a:spcPts val="0"/>
              </a:spcBef>
              <a:spcAft>
                <a:spcPts val="0"/>
              </a:spcAft>
            </a:pPr>
            <a:r>
              <a:rPr sz="2800" b="1">
                <a:solidFill>
                  <a:srgbClr val="FFFFFF"/>
                </a:solidFill>
                <a:latin typeface="Plus Jakarta Sans"/>
                <a:ea typeface="Plus Jakarta Sans"/>
                <a:cs typeface="Plus Jakarta Sans"/>
              </a:rPr>
              <a:t>01</a:t>
            </a:r>
          </a:p>
        </p:txBody>
      </p:sp>
      <p:sp>
        <p:nvSpPr>
          <p:cNvPr id="7" name="TextBox 6"/>
          <p:cNvSpPr txBox="1"/>
          <p:nvPr/>
        </p:nvSpPr>
        <p:spPr>
          <a:xfrm>
            <a:off x="1965960" y="1170432"/>
            <a:ext cx="5029200" cy="1417320"/>
          </a:xfrm>
          <a:prstGeom prst="rect">
            <a:avLst/>
          </a:prstGeom>
          <a:noFill/>
        </p:spPr>
        <p:txBody>
          <a:bodyPr wrap="square" lIns="0" rIns="0" tIns="0" bIns="0" anchor="ctr"/>
          <a:lstStyle/>
          <a:p>
            <a:pPr algn="l">
              <a:lnSpc>
                <a:spcPct val="95000"/>
              </a:lnSpc>
              <a:spcBef>
                <a:spcPts val="0"/>
              </a:spcBef>
              <a:spcAft>
                <a:spcPts val="0"/>
              </a:spcAft>
            </a:pPr>
            <a:r>
              <a:rPr sz="2800" b="1">
                <a:solidFill>
                  <a:srgbClr val="FFFFFF"/>
                </a:solidFill>
                <a:latin typeface="Plus Jakarta Sans"/>
                <a:ea typeface="Plus Jakarta Sans"/>
                <a:cs typeface="Plus Jakarta Sans"/>
              </a:rPr>
              <a:t>Nutrición</a:t>
            </a:r>
          </a:p>
        </p:txBody>
      </p:sp>
      <p:sp>
        <p:nvSpPr>
          <p:cNvPr id="8" name="Rounded Rectangle 7"/>
          <p:cNvSpPr/>
          <p:nvPr/>
        </p:nvSpPr>
        <p:spPr>
          <a:xfrm>
            <a:off x="384048" y="2734056"/>
            <a:ext cx="7040880" cy="1234440"/>
          </a:xfrm>
          <a:prstGeom prst="roundRect">
            <a:avLst>
              <a:gd name="adj" fmla="val 10000"/>
            </a:avLst>
          </a:prstGeom>
          <a:solidFill>
            <a:srgbClr val="E7F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734056"/>
            <a:ext cx="1188720" cy="1234440"/>
          </a:xfrm>
          <a:prstGeom prst="rect">
            <a:avLst/>
          </a:prstGeom>
          <a:noFill/>
        </p:spPr>
        <p:txBody>
          <a:bodyPr wrap="square" lIns="0" rIns="0" tIns="0" bIns="0" anchor="ctr"/>
          <a:lstStyle/>
          <a:p>
            <a:pPr algn="l">
              <a:lnSpc>
                <a:spcPct val="95000"/>
              </a:lnSpc>
              <a:spcBef>
                <a:spcPts val="0"/>
              </a:spcBef>
              <a:spcAft>
                <a:spcPts val="0"/>
              </a:spcAft>
            </a:pPr>
            <a:r>
              <a:rPr sz="2800" b="1">
                <a:solidFill>
                  <a:srgbClr val="E86A2A"/>
                </a:solidFill>
                <a:latin typeface="Plus Jakarta Sans"/>
                <a:ea typeface="Plus Jakarta Sans"/>
                <a:cs typeface="Plus Jakarta Sans"/>
              </a:rPr>
              <a:t>02</a:t>
            </a:r>
          </a:p>
        </p:txBody>
      </p:sp>
      <p:sp>
        <p:nvSpPr>
          <p:cNvPr id="10" name="TextBox 9"/>
          <p:cNvSpPr txBox="1"/>
          <p:nvPr/>
        </p:nvSpPr>
        <p:spPr>
          <a:xfrm>
            <a:off x="1965960" y="2734056"/>
            <a:ext cx="5029200" cy="1234440"/>
          </a:xfrm>
          <a:prstGeom prst="rect">
            <a:avLst/>
          </a:prstGeom>
          <a:noFill/>
        </p:spPr>
        <p:txBody>
          <a:bodyPr wrap="square" lIns="0" rIns="0" tIns="0" bIns="0" anchor="ctr"/>
          <a:lstStyle/>
          <a:p>
            <a:pPr algn="l">
              <a:lnSpc>
                <a:spcPct val="95000"/>
              </a:lnSpc>
              <a:spcBef>
                <a:spcPts val="0"/>
              </a:spcBef>
              <a:spcAft>
                <a:spcPts val="0"/>
              </a:spcAft>
            </a:pPr>
            <a:r>
              <a:rPr sz="2800" b="1">
                <a:solidFill>
                  <a:srgbClr val="10231F"/>
                </a:solidFill>
                <a:latin typeface="Plus Jakarta Sans"/>
                <a:ea typeface="Plus Jakarta Sans"/>
                <a:cs typeface="Plus Jakarta Sans"/>
              </a:rPr>
              <a:t>Procesamiento</a:t>
            </a:r>
          </a:p>
        </p:txBody>
      </p:sp>
      <p:sp>
        <p:nvSpPr>
          <p:cNvPr id="11" name="Rounded Rectangle 10"/>
          <p:cNvSpPr/>
          <p:nvPr/>
        </p:nvSpPr>
        <p:spPr>
          <a:xfrm>
            <a:off x="384048" y="4114800"/>
            <a:ext cx="7040880" cy="1097280"/>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114800"/>
            <a:ext cx="1188720" cy="1097280"/>
          </a:xfrm>
          <a:prstGeom prst="rect">
            <a:avLst/>
          </a:prstGeom>
          <a:noFill/>
        </p:spPr>
        <p:txBody>
          <a:bodyPr wrap="square" lIns="0" rIns="0" tIns="0" bIns="0" anchor="ctr"/>
          <a:lstStyle/>
          <a:p>
            <a:pPr algn="l">
              <a:lnSpc>
                <a:spcPct val="95000"/>
              </a:lnSpc>
              <a:spcBef>
                <a:spcPts val="0"/>
              </a:spcBef>
              <a:spcAft>
                <a:spcPts val="0"/>
              </a:spcAft>
            </a:pPr>
            <a:r>
              <a:rPr sz="2800" b="1">
                <a:solidFill>
                  <a:srgbClr val="E86A2A"/>
                </a:solidFill>
                <a:latin typeface="Plus Jakarta Sans"/>
                <a:ea typeface="Plus Jakarta Sans"/>
                <a:cs typeface="Plus Jakarta Sans"/>
              </a:rPr>
              <a:t>03</a:t>
            </a:r>
          </a:p>
        </p:txBody>
      </p:sp>
      <p:sp>
        <p:nvSpPr>
          <p:cNvPr id="13" name="TextBox 12"/>
          <p:cNvSpPr txBox="1"/>
          <p:nvPr/>
        </p:nvSpPr>
        <p:spPr>
          <a:xfrm>
            <a:off x="1965960" y="4114800"/>
            <a:ext cx="5029200" cy="1097280"/>
          </a:xfrm>
          <a:prstGeom prst="rect">
            <a:avLst/>
          </a:prstGeom>
          <a:noFill/>
        </p:spPr>
        <p:txBody>
          <a:bodyPr wrap="square" lIns="0" rIns="0" tIns="0" bIns="0" anchor="ctr"/>
          <a:lstStyle/>
          <a:p>
            <a:pPr algn="l">
              <a:lnSpc>
                <a:spcPct val="95000"/>
              </a:lnSpc>
              <a:spcBef>
                <a:spcPts val="0"/>
              </a:spcBef>
              <a:spcAft>
                <a:spcPts val="0"/>
              </a:spcAft>
            </a:pPr>
            <a:r>
              <a:rPr sz="2800" b="1">
                <a:solidFill>
                  <a:srgbClr val="10231F"/>
                </a:solidFill>
                <a:latin typeface="Plus Jakarta Sans"/>
                <a:ea typeface="Plus Jakarta Sans"/>
                <a:cs typeface="Plus Jakarta Sans"/>
              </a:rPr>
              <a:t>Etiquetas</a:t>
            </a:r>
          </a:p>
        </p:txBody>
      </p:sp>
      <p:sp>
        <p:nvSpPr>
          <p:cNvPr id="14" name="Rounded Rectangle 13"/>
          <p:cNvSpPr/>
          <p:nvPr/>
        </p:nvSpPr>
        <p:spPr>
          <a:xfrm>
            <a:off x="7680960" y="1170432"/>
            <a:ext cx="4114800" cy="1920240"/>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1353312"/>
            <a:ext cx="3703320" cy="256032"/>
          </a:xfrm>
          <a:prstGeom prst="rect">
            <a:avLst/>
          </a:prstGeom>
          <a:noFill/>
        </p:spPr>
        <p:txBody>
          <a:bodyPr wrap="square" lIns="0" rIns="0" tIns="0" bIns="0" anchor="t"/>
          <a:lstStyle/>
          <a:p>
            <a:pPr algn="l">
              <a:lnSpc>
                <a:spcPct val="95000"/>
              </a:lnSpc>
              <a:spcBef>
                <a:spcPts val="0"/>
              </a:spcBef>
              <a:spcAft>
                <a:spcPts val="0"/>
              </a:spcAft>
            </a:pPr>
            <a:r>
              <a:rPr sz="1200" b="1">
                <a:solidFill>
                  <a:srgbClr val="0F6B63"/>
                </a:solidFill>
                <a:latin typeface="Plus Jakarta Sans"/>
                <a:ea typeface="Plus Jakarta Sans"/>
                <a:cs typeface="Plus Jakarta Sans"/>
              </a:rPr>
              <a:t>DIETA</a:t>
            </a:r>
          </a:p>
        </p:txBody>
      </p:sp>
      <p:sp>
        <p:nvSpPr>
          <p:cNvPr id="16" name="TextBox 15"/>
          <p:cNvSpPr txBox="1"/>
          <p:nvPr/>
        </p:nvSpPr>
        <p:spPr>
          <a:xfrm>
            <a:off x="7909560" y="1874519"/>
            <a:ext cx="3703320" cy="640080"/>
          </a:xfrm>
          <a:prstGeom prst="rect">
            <a:avLst/>
          </a:prstGeom>
          <a:noFill/>
        </p:spPr>
        <p:txBody>
          <a:bodyPr wrap="square" lIns="0" rIns="0" tIns="0" bIns="0" anchor="t"/>
          <a:lstStyle/>
          <a:p>
            <a:pPr algn="l">
              <a:lnSpc>
                <a:spcPct val="95000"/>
              </a:lnSpc>
              <a:spcBef>
                <a:spcPts val="0"/>
              </a:spcBef>
              <a:spcAft>
                <a:spcPts val="0"/>
              </a:spcAft>
            </a:pPr>
            <a:r>
              <a:rPr sz="2800" b="1">
                <a:solidFill>
                  <a:srgbClr val="10231F"/>
                </a:solidFill>
                <a:latin typeface="Plus Jakarta Sans"/>
                <a:ea typeface="Plus Jakarta Sans"/>
                <a:cs typeface="Plus Jakarta Sans"/>
              </a:rPr>
              <a:t>Ahora no</a:t>
            </a:r>
          </a:p>
        </p:txBody>
      </p:sp>
      <p:sp>
        <p:nvSpPr>
          <p:cNvPr id="17" name="Rounded Rectangle 16"/>
          <p:cNvSpPr/>
          <p:nvPr/>
        </p:nvSpPr>
        <p:spPr>
          <a:xfrm>
            <a:off x="7680960" y="3291840"/>
            <a:ext cx="4114800" cy="1920240"/>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3474720"/>
            <a:ext cx="3703320" cy="256032"/>
          </a:xfrm>
          <a:prstGeom prst="rect">
            <a:avLst/>
          </a:prstGeom>
          <a:noFill/>
        </p:spPr>
        <p:txBody>
          <a:bodyPr wrap="square" lIns="0" rIns="0" tIns="0" bIns="0" anchor="t"/>
          <a:lstStyle/>
          <a:p>
            <a:pPr algn="l">
              <a:lnSpc>
                <a:spcPct val="95000"/>
              </a:lnSpc>
              <a:spcBef>
                <a:spcPts val="0"/>
              </a:spcBef>
              <a:spcAft>
                <a:spcPts val="0"/>
              </a:spcAft>
            </a:pPr>
            <a:r>
              <a:rPr sz="1200" b="1">
                <a:solidFill>
                  <a:srgbClr val="0F6B63"/>
                </a:solidFill>
                <a:latin typeface="Plus Jakarta Sans"/>
                <a:ea typeface="Plus Jakarta Sans"/>
                <a:cs typeface="Plus Jakarta Sans"/>
              </a:rPr>
              <a:t>ALERGIAS</a:t>
            </a:r>
          </a:p>
        </p:txBody>
      </p:sp>
      <p:sp>
        <p:nvSpPr>
          <p:cNvPr id="19" name="TextBox 18"/>
          <p:cNvSpPr txBox="1"/>
          <p:nvPr/>
        </p:nvSpPr>
        <p:spPr>
          <a:xfrm>
            <a:off x="7909560" y="3995928"/>
            <a:ext cx="3703320" cy="640080"/>
          </a:xfrm>
          <a:prstGeom prst="rect">
            <a:avLst/>
          </a:prstGeom>
          <a:noFill/>
        </p:spPr>
        <p:txBody>
          <a:bodyPr wrap="square" lIns="0" rIns="0" tIns="0" bIns="0" anchor="t"/>
          <a:lstStyle/>
          <a:p>
            <a:pPr algn="l">
              <a:lnSpc>
                <a:spcPct val="95000"/>
              </a:lnSpc>
              <a:spcBef>
                <a:spcPts val="0"/>
              </a:spcBef>
              <a:spcAft>
                <a:spcPts val="0"/>
              </a:spcAft>
            </a:pPr>
            <a:r>
              <a:rPr sz="2800" b="1">
                <a:solidFill>
                  <a:srgbClr val="10231F"/>
                </a:solidFill>
                <a:latin typeface="Plus Jakarta Sans"/>
                <a:ea typeface="Plus Jakarta Sans"/>
                <a:cs typeface="Plus Jakarta Sans"/>
              </a:rPr>
              <a:t>Ahora no</a:t>
            </a:r>
          </a:p>
        </p:txBody>
      </p:sp>
      <p:sp>
        <p:nvSpPr>
          <p:cNvPr id="20" name="TextBox 19"/>
          <p:cNvSpPr txBox="1"/>
          <p:nvPr/>
        </p:nvSpPr>
        <p:spPr>
          <a:xfrm>
            <a:off x="457200" y="5897880"/>
            <a:ext cx="7315200" cy="640080"/>
          </a:xfrm>
          <a:prstGeom prst="rect">
            <a:avLst/>
          </a:prstGeom>
          <a:noFill/>
        </p:spPr>
        <p:txBody>
          <a:bodyPr wrap="square" lIns="0" rIns="0" tIns="0" bIns="0" anchor="t"/>
          <a:lstStyle/>
          <a:p>
            <a:pPr algn="l">
              <a:lnSpc>
                <a:spcPct val="95000"/>
              </a:lnSpc>
              <a:spcBef>
                <a:spcPts val="0"/>
              </a:spcBef>
              <a:spcAft>
                <a:spcPts val="0"/>
              </a:spcAft>
            </a:pPr>
            <a:r>
              <a:rPr sz="1600" b="1">
                <a:solidFill>
                  <a:srgbClr val="0A4A40"/>
                </a:solidFill>
                <a:latin typeface="Plus Jakarta Sans"/>
                <a:ea typeface="Plus Jakarta Sans"/>
                <a:cs typeface="Plus Jakarta Sans"/>
              </a:rPr>
              <a:t>La comparación parte de</a:t>
            </a:r>
          </a:p>
          <a:p>
            <a:pPr algn="l">
              <a:lnSpc>
                <a:spcPct val="95000"/>
              </a:lnSpc>
              <a:spcBef>
                <a:spcPts val="0"/>
              </a:spcBef>
              <a:spcAft>
                <a:spcPts val="0"/>
              </a:spcAft>
            </a:pPr>
            <a:r>
              <a:rPr sz="1600" b="1">
                <a:solidFill>
                  <a:srgbClr val="0A4A40"/>
                </a:solidFill>
                <a:latin typeface="Plus Jakarta Sans"/>
                <a:ea typeface="Plus Jakarta Sans"/>
                <a:cs typeface="Plus Jakarta Sans"/>
              </a:rPr>
              <a:t>las prioridades declaradas.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7315200" cy="256032"/>
          </a:xfrm>
          <a:prstGeom prst="rect">
            <a:avLst/>
          </a:prstGeom>
          <a:noFill/>
        </p:spPr>
        <p:txBody>
          <a:bodyPr wrap="square" lIns="0" rIns="0" tIns="0" bIns="0" anchor="t"/>
          <a:lstStyle/>
          <a:p>
            <a:pPr algn="l">
              <a:lnSpc>
                <a:spcPct val="95000"/>
              </a:lnSpc>
              <a:spcBef>
                <a:spcPts val="0"/>
              </a:spcBef>
              <a:spcAft>
                <a:spcPts val="0"/>
              </a:spcAft>
            </a:pPr>
            <a:r>
              <a:rPr sz="1300" b="1">
                <a:solidFill>
                  <a:srgbClr val="0F6B63"/>
                </a:solidFill>
                <a:latin typeface="Plus Jakarta Sans"/>
                <a:ea typeface="Plus Jakarta Sans"/>
                <a:cs typeface="Plus Jakarta Sans"/>
              </a:rPr>
              <a:t>04   /   BUSCAR</a:t>
            </a:r>
          </a:p>
        </p:txBody>
      </p:sp>
      <p:sp>
        <p:nvSpPr>
          <p:cNvPr id="3" name="TextBox 2"/>
          <p:cNvSpPr txBox="1"/>
          <p:nvPr/>
        </p:nvSpPr>
        <p:spPr>
          <a:xfrm>
            <a:off x="11109960" y="6510528"/>
            <a:ext cx="640080" cy="237744"/>
          </a:xfrm>
          <a:prstGeom prst="rect">
            <a:avLst/>
          </a:prstGeom>
          <a:noFill/>
        </p:spPr>
        <p:txBody>
          <a:bodyPr wrap="square" lIns="0" rIns="0" tIns="0" bIns="0" anchor="t"/>
          <a:lstStyle/>
          <a:p>
            <a:pPr algn="r">
              <a:lnSpc>
                <a:spcPct val="95000"/>
              </a:lnSpc>
              <a:spcBef>
                <a:spcPts val="0"/>
              </a:spcBef>
              <a:spcAft>
                <a:spcPts val="0"/>
              </a:spcAft>
            </a:pPr>
            <a:r>
              <a:rPr sz="1200" b="1">
                <a:solidFill>
                  <a:srgbClr val="0F6B63"/>
                </a:solidFill>
                <a:latin typeface="Plus Jakarta Sans"/>
                <a:ea typeface="Plus Jakarta Sans"/>
                <a:cs typeface="Plus Jakarta Sans"/>
              </a:rPr>
              <a:t>04</a:t>
            </a:r>
          </a:p>
        </p:txBody>
      </p:sp>
      <p:sp>
        <p:nvSpPr>
          <p:cNvPr id="4" name="TextBox 3"/>
          <p:cNvSpPr txBox="1"/>
          <p:nvPr/>
        </p:nvSpPr>
        <p:spPr>
          <a:xfrm>
            <a:off x="384048" y="502920"/>
            <a:ext cx="11338560" cy="438912"/>
          </a:xfrm>
          <a:prstGeom prst="rect">
            <a:avLst/>
          </a:prstGeom>
          <a:noFill/>
        </p:spPr>
        <p:txBody>
          <a:bodyPr wrap="square" lIns="0" rIns="0" tIns="0" bIns="0" anchor="t"/>
          <a:lstStyle/>
          <a:p>
            <a:pPr algn="l">
              <a:lnSpc>
                <a:spcPct val="95000"/>
              </a:lnSpc>
              <a:spcBef>
                <a:spcPts val="0"/>
              </a:spcBef>
              <a:spcAft>
                <a:spcPts val="0"/>
              </a:spcAft>
            </a:pPr>
            <a:r>
              <a:rPr sz="2800" b="1">
                <a:solidFill>
                  <a:srgbClr val="10231F"/>
                </a:solidFill>
                <a:latin typeface="Plus Jakarta Sans"/>
                <a:ea typeface="Plus Jakarta Sans"/>
                <a:cs typeface="Plus Jakarta Sans"/>
              </a:rPr>
              <a:t>Encuentra el producto que tienes enfrente</a:t>
            </a:r>
          </a:p>
        </p:txBody>
      </p:sp>
      <p:sp>
        <p:nvSpPr>
          <p:cNvPr id="5" name="Rounded Rectangle 4"/>
          <p:cNvSpPr/>
          <p:nvPr/>
        </p:nvSpPr>
        <p:spPr>
          <a:xfrm>
            <a:off x="384048" y="1078992"/>
            <a:ext cx="3730752" cy="3520440"/>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3" y="1280160"/>
            <a:ext cx="3291840" cy="256032"/>
          </a:xfrm>
          <a:prstGeom prst="rect">
            <a:avLst/>
          </a:prstGeom>
          <a:noFill/>
        </p:spPr>
        <p:txBody>
          <a:bodyPr wrap="square" lIns="0" rIns="0" tIns="0" bIns="0" anchor="t"/>
          <a:lstStyle/>
          <a:p>
            <a:pPr algn="l">
              <a:lnSpc>
                <a:spcPct val="95000"/>
              </a:lnSpc>
              <a:spcBef>
                <a:spcPts val="0"/>
              </a:spcBef>
              <a:spcAft>
                <a:spcPts val="0"/>
              </a:spcAft>
            </a:pPr>
            <a:r>
              <a:rPr sz="1200" b="1">
                <a:solidFill>
                  <a:srgbClr val="E86A2A"/>
                </a:solidFill>
                <a:latin typeface="Plus Jakarta Sans"/>
                <a:ea typeface="Plus Jakarta Sans"/>
                <a:cs typeface="Plus Jakarta Sans"/>
              </a:rPr>
              <a:t>PRODUCTO</a:t>
            </a:r>
          </a:p>
        </p:txBody>
      </p:sp>
      <p:sp>
        <p:nvSpPr>
          <p:cNvPr id="7" name="TextBox 6"/>
          <p:cNvSpPr txBox="1"/>
          <p:nvPr/>
        </p:nvSpPr>
        <p:spPr>
          <a:xfrm>
            <a:off x="603503" y="1965960"/>
            <a:ext cx="3291840" cy="1554480"/>
          </a:xfrm>
          <a:prstGeom prst="rect">
            <a:avLst/>
          </a:prstGeom>
          <a:noFill/>
        </p:spPr>
        <p:txBody>
          <a:bodyPr wrap="square" lIns="0" rIns="0" tIns="0" bIns="0" anchor="t"/>
          <a:lstStyle/>
          <a:p>
            <a:pPr algn="l">
              <a:lnSpc>
                <a:spcPct val="95000"/>
              </a:lnSpc>
              <a:spcBef>
                <a:spcPts val="0"/>
              </a:spcBef>
              <a:spcAft>
                <a:spcPts val="0"/>
              </a:spcAft>
            </a:pPr>
            <a:r>
              <a:rPr sz="3000" b="1">
                <a:solidFill>
                  <a:srgbClr val="10231F"/>
                </a:solidFill>
                <a:latin typeface="Plus Jakarta Sans"/>
                <a:ea typeface="Plus Jakarta Sans"/>
                <a:cs typeface="Plus Jakarta Sans"/>
              </a:rPr>
              <a:t>Aceitunas</a:t>
            </a:r>
          </a:p>
          <a:p>
            <a:pPr algn="l">
              <a:lnSpc>
                <a:spcPct val="95000"/>
              </a:lnSpc>
              <a:spcBef>
                <a:spcPts val="0"/>
              </a:spcBef>
              <a:spcAft>
                <a:spcPts val="0"/>
              </a:spcAft>
            </a:pPr>
            <a:r>
              <a:rPr sz="3000" b="1">
                <a:solidFill>
                  <a:srgbClr val="10231F"/>
                </a:solidFill>
                <a:latin typeface="Plus Jakarta Sans"/>
                <a:ea typeface="Plus Jakarta Sans"/>
                <a:cs typeface="Plus Jakarta Sans"/>
              </a:rPr>
              <a:t>sin hueso</a:t>
            </a:r>
          </a:p>
        </p:txBody>
      </p:sp>
      <p:sp>
        <p:nvSpPr>
          <p:cNvPr id="8" name="Rectangle 7"/>
          <p:cNvSpPr/>
          <p:nvPr/>
        </p:nvSpPr>
        <p:spPr>
          <a:xfrm>
            <a:off x="603503" y="4069080"/>
            <a:ext cx="1051560" cy="50292"/>
          </a:xfrm>
          <a:prstGeom prst="rect">
            <a:avLst/>
          </a:prstGeom>
          <a:solidFill>
            <a:srgbClr val="E8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97680" y="1078992"/>
            <a:ext cx="3730752" cy="3520440"/>
          </a:xfrm>
          <a:prstGeom prst="roundRect">
            <a:avLst>
              <a:gd name="adj" fmla="val 10000"/>
            </a:avLst>
          </a:prstGeom>
          <a:solidFill>
            <a:srgbClr val="E7F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1280160"/>
            <a:ext cx="3291840" cy="256032"/>
          </a:xfrm>
          <a:prstGeom prst="rect">
            <a:avLst/>
          </a:prstGeom>
          <a:noFill/>
        </p:spPr>
        <p:txBody>
          <a:bodyPr wrap="square" lIns="0" rIns="0" tIns="0" bIns="0" anchor="t"/>
          <a:lstStyle/>
          <a:p>
            <a:pPr algn="l">
              <a:lnSpc>
                <a:spcPct val="95000"/>
              </a:lnSpc>
              <a:spcBef>
                <a:spcPts val="0"/>
              </a:spcBef>
              <a:spcAft>
                <a:spcPts val="0"/>
              </a:spcAft>
            </a:pPr>
            <a:r>
              <a:rPr sz="1200" b="1">
                <a:solidFill>
                  <a:srgbClr val="E86A2A"/>
                </a:solidFill>
                <a:latin typeface="Plus Jakarta Sans"/>
                <a:ea typeface="Plus Jakarta Sans"/>
                <a:cs typeface="Plus Jakarta Sans"/>
              </a:rPr>
              <a:t>MARCA</a:t>
            </a:r>
          </a:p>
        </p:txBody>
      </p:sp>
      <p:sp>
        <p:nvSpPr>
          <p:cNvPr id="11" name="TextBox 10"/>
          <p:cNvSpPr txBox="1"/>
          <p:nvPr/>
        </p:nvSpPr>
        <p:spPr>
          <a:xfrm>
            <a:off x="4517136" y="1965960"/>
            <a:ext cx="3291840" cy="1554480"/>
          </a:xfrm>
          <a:prstGeom prst="rect">
            <a:avLst/>
          </a:prstGeom>
          <a:noFill/>
        </p:spPr>
        <p:txBody>
          <a:bodyPr wrap="square" lIns="0" rIns="0" tIns="0" bIns="0" anchor="t"/>
          <a:lstStyle/>
          <a:p>
            <a:pPr algn="l">
              <a:lnSpc>
                <a:spcPct val="95000"/>
              </a:lnSpc>
              <a:spcBef>
                <a:spcPts val="0"/>
              </a:spcBef>
              <a:spcAft>
                <a:spcPts val="0"/>
              </a:spcAft>
            </a:pPr>
            <a:r>
              <a:rPr sz="3000" b="1">
                <a:solidFill>
                  <a:srgbClr val="0A4A40"/>
                </a:solidFill>
                <a:latin typeface="Plus Jakarta Sans"/>
                <a:ea typeface="Plus Jakarta Sans"/>
                <a:cs typeface="Plus Jakarta Sans"/>
              </a:rPr>
              <a:t>Búfalo</a:t>
            </a:r>
          </a:p>
        </p:txBody>
      </p:sp>
      <p:sp>
        <p:nvSpPr>
          <p:cNvPr id="12" name="Rectangle 11"/>
          <p:cNvSpPr/>
          <p:nvPr/>
        </p:nvSpPr>
        <p:spPr>
          <a:xfrm>
            <a:off x="4517136" y="4069080"/>
            <a:ext cx="1051560" cy="50292"/>
          </a:xfrm>
          <a:prstGeom prst="rect">
            <a:avLst/>
          </a:prstGeom>
          <a:solidFill>
            <a:srgbClr val="E8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11312" y="1078992"/>
            <a:ext cx="3730752" cy="3520440"/>
          </a:xfrm>
          <a:prstGeom prst="roundRect">
            <a:avLst>
              <a:gd name="adj" fmla="val 10000"/>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1280160"/>
            <a:ext cx="3291840" cy="256032"/>
          </a:xfrm>
          <a:prstGeom prst="rect">
            <a:avLst/>
          </a:prstGeom>
          <a:noFill/>
        </p:spPr>
        <p:txBody>
          <a:bodyPr wrap="square" lIns="0" rIns="0" tIns="0" bIns="0" anchor="t"/>
          <a:lstStyle/>
          <a:p>
            <a:pPr algn="l">
              <a:lnSpc>
                <a:spcPct val="95000"/>
              </a:lnSpc>
              <a:spcBef>
                <a:spcPts val="0"/>
              </a:spcBef>
              <a:spcAft>
                <a:spcPts val="0"/>
              </a:spcAft>
            </a:pPr>
            <a:r>
              <a:rPr sz="1200" b="1">
                <a:solidFill>
                  <a:srgbClr val="D5E8E4"/>
                </a:solidFill>
                <a:latin typeface="Plus Jakarta Sans"/>
                <a:ea typeface="Plus Jakarta Sans"/>
                <a:cs typeface="Plus Jakarta Sans"/>
              </a:rPr>
              <a:t>CÓDIGO</a:t>
            </a:r>
          </a:p>
        </p:txBody>
      </p:sp>
      <p:sp>
        <p:nvSpPr>
          <p:cNvPr id="15" name="TextBox 14"/>
          <p:cNvSpPr txBox="1"/>
          <p:nvPr/>
        </p:nvSpPr>
        <p:spPr>
          <a:xfrm>
            <a:off x="8430768" y="1965960"/>
            <a:ext cx="3291840" cy="1554480"/>
          </a:xfrm>
          <a:prstGeom prst="rect">
            <a:avLst/>
          </a:prstGeom>
          <a:noFill/>
        </p:spPr>
        <p:txBody>
          <a:bodyPr wrap="square" lIns="0" rIns="0" tIns="0" bIns="0" anchor="t"/>
          <a:lstStyle/>
          <a:p>
            <a:pPr algn="l">
              <a:lnSpc>
                <a:spcPct val="95000"/>
              </a:lnSpc>
              <a:spcBef>
                <a:spcPts val="0"/>
              </a:spcBef>
              <a:spcAft>
                <a:spcPts val="0"/>
              </a:spcAft>
            </a:pPr>
            <a:r>
              <a:rPr sz="3000" b="1">
                <a:solidFill>
                  <a:srgbClr val="FFFFFF"/>
                </a:solidFill>
                <a:latin typeface="Plus Jakarta Sans"/>
                <a:ea typeface="Plus Jakarta Sans"/>
                <a:cs typeface="Plus Jakarta Sans"/>
              </a:rPr>
              <a:t>7501003390288</a:t>
            </a:r>
          </a:p>
        </p:txBody>
      </p:sp>
      <p:sp>
        <p:nvSpPr>
          <p:cNvPr id="16" name="Rectangle 15"/>
          <p:cNvSpPr/>
          <p:nvPr/>
        </p:nvSpPr>
        <p:spPr>
          <a:xfrm>
            <a:off x="8430768" y="4069080"/>
            <a:ext cx="1051560" cy="50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4736592"/>
            <a:ext cx="7315200" cy="292608"/>
          </a:xfrm>
          <a:prstGeom prst="rect">
            <a:avLst/>
          </a:prstGeom>
          <a:noFill/>
        </p:spPr>
        <p:txBody>
          <a:bodyPr wrap="square" lIns="0" rIns="0" tIns="0" bIns="0" anchor="t"/>
          <a:lstStyle/>
          <a:p>
            <a:pPr algn="l">
              <a:lnSpc>
                <a:spcPct val="95000"/>
              </a:lnSpc>
              <a:spcBef>
                <a:spcPts val="0"/>
              </a:spcBef>
              <a:spcAft>
                <a:spcPts val="0"/>
              </a:spcAft>
            </a:pPr>
            <a:r>
              <a:rPr sz="1600" b="1">
                <a:solidFill>
                  <a:srgbClr val="0A4A40"/>
                </a:solidFill>
                <a:latin typeface="Plus Jakarta Sans"/>
                <a:ea typeface="Plus Jakarta Sans"/>
                <a:cs typeface="Plus Jakarta Sans"/>
              </a:rPr>
              <a:t>Ese código abre la ficha.</a:t>
            </a:r>
          </a:p>
        </p:txBody>
      </p:sp>
      <p:pic>
        <p:nvPicPr>
          <p:cNvPr id="18" name="Picture 17" descr="s4-buscar.png"/>
          <p:cNvPicPr>
            <a:picLocks noChangeAspect="1"/>
          </p:cNvPicPr>
          <p:nvPr/>
        </p:nvPicPr>
        <p:blipFill>
          <a:blip r:embed="rId2"/>
          <a:stretch>
            <a:fillRect/>
          </a:stretch>
        </p:blipFill>
        <p:spPr>
          <a:xfrm>
            <a:off x="384048" y="5074920"/>
            <a:ext cx="11430000" cy="106774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7315200" cy="256032"/>
          </a:xfrm>
          <a:prstGeom prst="rect">
            <a:avLst/>
          </a:prstGeom>
          <a:noFill/>
        </p:spPr>
        <p:txBody>
          <a:bodyPr wrap="square" lIns="0" rIns="0" tIns="0" bIns="0" anchor="t"/>
          <a:lstStyle/>
          <a:p>
            <a:pPr algn="l">
              <a:lnSpc>
                <a:spcPct val="95000"/>
              </a:lnSpc>
              <a:spcBef>
                <a:spcPts val="0"/>
              </a:spcBef>
              <a:spcAft>
                <a:spcPts val="0"/>
              </a:spcAft>
            </a:pPr>
            <a:r>
              <a:rPr sz="1300" b="1">
                <a:solidFill>
                  <a:srgbClr val="0F6B63"/>
                </a:solidFill>
                <a:latin typeface="Plus Jakarta Sans"/>
                <a:ea typeface="Plus Jakarta Sans"/>
                <a:cs typeface="Plus Jakarta Sans"/>
              </a:rPr>
              <a:t>05   /   FICHA</a:t>
            </a:r>
          </a:p>
        </p:txBody>
      </p:sp>
      <p:sp>
        <p:nvSpPr>
          <p:cNvPr id="3" name="TextBox 2"/>
          <p:cNvSpPr txBox="1"/>
          <p:nvPr/>
        </p:nvSpPr>
        <p:spPr>
          <a:xfrm>
            <a:off x="11109960" y="6510528"/>
            <a:ext cx="640080" cy="237744"/>
          </a:xfrm>
          <a:prstGeom prst="rect">
            <a:avLst/>
          </a:prstGeom>
          <a:noFill/>
        </p:spPr>
        <p:txBody>
          <a:bodyPr wrap="square" lIns="0" rIns="0" tIns="0" bIns="0" anchor="t"/>
          <a:lstStyle/>
          <a:p>
            <a:pPr algn="r">
              <a:lnSpc>
                <a:spcPct val="95000"/>
              </a:lnSpc>
              <a:spcBef>
                <a:spcPts val="0"/>
              </a:spcBef>
              <a:spcAft>
                <a:spcPts val="0"/>
              </a:spcAft>
            </a:pPr>
            <a:r>
              <a:rPr sz="1200" b="1">
                <a:solidFill>
                  <a:srgbClr val="0F6B63"/>
                </a:solidFill>
                <a:latin typeface="Plus Jakarta Sans"/>
                <a:ea typeface="Plus Jakarta Sans"/>
                <a:cs typeface="Plus Jakarta Sans"/>
              </a:rPr>
              <a:t>05</a:t>
            </a:r>
          </a:p>
        </p:txBody>
      </p:sp>
      <p:sp>
        <p:nvSpPr>
          <p:cNvPr id="4" name="TextBox 3"/>
          <p:cNvSpPr txBox="1"/>
          <p:nvPr/>
        </p:nvSpPr>
        <p:spPr>
          <a:xfrm>
            <a:off x="384048" y="502920"/>
            <a:ext cx="11338560" cy="411480"/>
          </a:xfrm>
          <a:prstGeom prst="rect">
            <a:avLst/>
          </a:prstGeom>
          <a:noFill/>
        </p:spPr>
        <p:txBody>
          <a:bodyPr wrap="square" lIns="0" rIns="0" tIns="0" bIns="0" anchor="t"/>
          <a:lstStyle/>
          <a:p>
            <a:pPr algn="l">
              <a:lnSpc>
                <a:spcPct val="95000"/>
              </a:lnSpc>
              <a:spcBef>
                <a:spcPts val="0"/>
              </a:spcBef>
              <a:spcAft>
                <a:spcPts val="0"/>
              </a:spcAft>
            </a:pPr>
            <a:r>
              <a:rPr sz="2600" b="1">
                <a:solidFill>
                  <a:srgbClr val="10231F"/>
                </a:solidFill>
                <a:latin typeface="Plus Jakarta Sans"/>
                <a:ea typeface="Plus Jakarta Sans"/>
                <a:cs typeface="Plus Jakarta Sans"/>
              </a:rPr>
              <a:t>Una sola vista para entender el producto</a:t>
            </a:r>
          </a:p>
        </p:txBody>
      </p:sp>
      <p:pic>
        <p:nvPicPr>
          <p:cNvPr id="5" name="Picture 4" descr="s5-ficha.png"/>
          <p:cNvPicPr>
            <a:picLocks noChangeAspect="1"/>
          </p:cNvPicPr>
          <p:nvPr/>
        </p:nvPicPr>
        <p:blipFill>
          <a:blip r:embed="rId2"/>
          <a:stretch>
            <a:fillRect/>
          </a:stretch>
        </p:blipFill>
        <p:spPr>
          <a:xfrm>
            <a:off x="2212848" y="1024128"/>
            <a:ext cx="7040880" cy="4993621"/>
          </a:xfrm>
          <a:prstGeom prst="rect">
            <a:avLst/>
          </a:prstGeom>
        </p:spPr>
      </p:pic>
      <p:sp>
        <p:nvSpPr>
          <p:cNvPr id="6" name="TextBox 5"/>
          <p:cNvSpPr txBox="1"/>
          <p:nvPr/>
        </p:nvSpPr>
        <p:spPr>
          <a:xfrm>
            <a:off x="256032" y="1170432"/>
            <a:ext cx="1874519" cy="365760"/>
          </a:xfrm>
          <a:prstGeom prst="rect">
            <a:avLst/>
          </a:prstGeom>
          <a:noFill/>
        </p:spPr>
        <p:txBody>
          <a:bodyPr wrap="square" lIns="0" rIns="0" tIns="0" bIns="0" anchor="t"/>
          <a:lstStyle/>
          <a:p>
            <a:pPr algn="l">
              <a:lnSpc>
                <a:spcPct val="95000"/>
              </a:lnSpc>
              <a:spcBef>
                <a:spcPts val="0"/>
              </a:spcBef>
              <a:spcAft>
                <a:spcPts val="0"/>
              </a:spcAft>
            </a:pPr>
            <a:r>
              <a:rPr sz="2800" b="1">
                <a:solidFill>
                  <a:srgbClr val="0A4A40"/>
                </a:solidFill>
                <a:latin typeface="Plus Jakarta Sans"/>
                <a:ea typeface="Plus Jakarta Sans"/>
                <a:cs typeface="Plus Jakarta Sans"/>
              </a:rPr>
              <a:t>≈ 40</a:t>
            </a:r>
          </a:p>
        </p:txBody>
      </p:sp>
      <p:sp>
        <p:nvSpPr>
          <p:cNvPr id="7" name="TextBox 6"/>
          <p:cNvSpPr txBox="1"/>
          <p:nvPr/>
        </p:nvSpPr>
        <p:spPr>
          <a:xfrm>
            <a:off x="256032" y="1517904"/>
            <a:ext cx="1874519" cy="256032"/>
          </a:xfrm>
          <a:prstGeom prst="rect">
            <a:avLst/>
          </a:prstGeom>
          <a:noFill/>
        </p:spPr>
        <p:txBody>
          <a:bodyPr wrap="square" lIns="0" rIns="0" tIns="0" bIns="0" anchor="t"/>
          <a:lstStyle/>
          <a:p>
            <a:pPr algn="l">
              <a:lnSpc>
                <a:spcPct val="95000"/>
              </a:lnSpc>
              <a:spcBef>
                <a:spcPts val="0"/>
              </a:spcBef>
              <a:spcAft>
                <a:spcPts val="0"/>
              </a:spcAft>
            </a:pPr>
            <a:r>
              <a:rPr sz="1200" b="0">
                <a:solidFill>
                  <a:srgbClr val="5E6864"/>
                </a:solidFill>
                <a:latin typeface="Plus Jakarta Sans"/>
                <a:ea typeface="Plus Jakarta Sans"/>
                <a:cs typeface="Plus Jakarta Sans"/>
              </a:rPr>
              <a:t>Resultado</a:t>
            </a:r>
          </a:p>
        </p:txBody>
      </p:sp>
      <p:sp>
        <p:nvSpPr>
          <p:cNvPr id="8" name="Rectangle 7"/>
          <p:cNvSpPr/>
          <p:nvPr/>
        </p:nvSpPr>
        <p:spPr>
          <a:xfrm>
            <a:off x="1965960" y="1371600"/>
            <a:ext cx="201168" cy="32004"/>
          </a:xfrm>
          <a:prstGeom prst="rect">
            <a:avLst/>
          </a:prstGeom>
          <a:solidFill>
            <a:srgbClr val="E8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2340864"/>
            <a:ext cx="1874519" cy="365760"/>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Nutrición</a:t>
            </a:r>
          </a:p>
        </p:txBody>
      </p:sp>
      <p:sp>
        <p:nvSpPr>
          <p:cNvPr id="10" name="TextBox 9"/>
          <p:cNvSpPr txBox="1"/>
          <p:nvPr/>
        </p:nvSpPr>
        <p:spPr>
          <a:xfrm>
            <a:off x="256032" y="2688336"/>
            <a:ext cx="1874519" cy="256032"/>
          </a:xfrm>
          <a:prstGeom prst="rect">
            <a:avLst/>
          </a:prstGeom>
          <a:noFill/>
        </p:spPr>
        <p:txBody>
          <a:bodyPr wrap="square" lIns="0" rIns="0" tIns="0" bIns="0" anchor="t"/>
          <a:lstStyle/>
          <a:p>
            <a:pPr algn="l">
              <a:lnSpc>
                <a:spcPct val="95000"/>
              </a:lnSpc>
              <a:spcBef>
                <a:spcPts val="0"/>
              </a:spcBef>
              <a:spcAft>
                <a:spcPts val="0"/>
              </a:spcAft>
            </a:pPr>
            <a:r>
              <a:rPr sz="1200" b="0">
                <a:solidFill>
                  <a:srgbClr val="5E6864"/>
                </a:solidFill>
                <a:latin typeface="Plus Jakarta Sans"/>
                <a:ea typeface="Plus Jakarta Sans"/>
                <a:cs typeface="Plus Jakarta Sans"/>
              </a:rPr>
              <a:t>37.1</a:t>
            </a:r>
          </a:p>
        </p:txBody>
      </p:sp>
      <p:sp>
        <p:nvSpPr>
          <p:cNvPr id="11" name="Rectangle 10"/>
          <p:cNvSpPr/>
          <p:nvPr/>
        </p:nvSpPr>
        <p:spPr>
          <a:xfrm>
            <a:off x="1965960" y="2542032"/>
            <a:ext cx="201168" cy="32004"/>
          </a:xfrm>
          <a:prstGeom prst="rect">
            <a:avLst/>
          </a:prstGeom>
          <a:solidFill>
            <a:srgbClr val="E6DF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3511296"/>
            <a:ext cx="1874519" cy="365760"/>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Procesamiento</a:t>
            </a:r>
          </a:p>
        </p:txBody>
      </p:sp>
      <p:sp>
        <p:nvSpPr>
          <p:cNvPr id="13" name="TextBox 12"/>
          <p:cNvSpPr txBox="1"/>
          <p:nvPr/>
        </p:nvSpPr>
        <p:spPr>
          <a:xfrm>
            <a:off x="256032" y="3858768"/>
            <a:ext cx="1874519" cy="256032"/>
          </a:xfrm>
          <a:prstGeom prst="rect">
            <a:avLst/>
          </a:prstGeom>
          <a:noFill/>
        </p:spPr>
        <p:txBody>
          <a:bodyPr wrap="square" lIns="0" rIns="0" tIns="0" bIns="0" anchor="t"/>
          <a:lstStyle/>
          <a:p>
            <a:pPr algn="l">
              <a:lnSpc>
                <a:spcPct val="95000"/>
              </a:lnSpc>
              <a:spcBef>
                <a:spcPts val="0"/>
              </a:spcBef>
              <a:spcAft>
                <a:spcPts val="0"/>
              </a:spcAft>
            </a:pPr>
            <a:r>
              <a:rPr sz="1200" b="0">
                <a:solidFill>
                  <a:srgbClr val="5E6864"/>
                </a:solidFill>
                <a:latin typeface="Plus Jakarta Sans"/>
                <a:ea typeface="Plus Jakarta Sans"/>
                <a:cs typeface="Plus Jakarta Sans"/>
              </a:rPr>
              <a:t>44.4</a:t>
            </a:r>
          </a:p>
        </p:txBody>
      </p:sp>
      <p:sp>
        <p:nvSpPr>
          <p:cNvPr id="14" name="Rectangle 13"/>
          <p:cNvSpPr/>
          <p:nvPr/>
        </p:nvSpPr>
        <p:spPr>
          <a:xfrm>
            <a:off x="1965960" y="3712463"/>
            <a:ext cx="201168" cy="32004"/>
          </a:xfrm>
          <a:prstGeom prst="rect">
            <a:avLst/>
          </a:prstGeom>
          <a:solidFill>
            <a:srgbClr val="E6DF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4681728"/>
            <a:ext cx="1874519" cy="365760"/>
          </a:xfrm>
          <a:prstGeom prst="rect">
            <a:avLst/>
          </a:prstGeom>
          <a:noFill/>
        </p:spPr>
        <p:txBody>
          <a:bodyPr wrap="square" lIns="0" rIns="0" tIns="0" bIns="0" anchor="t"/>
          <a:lstStyle/>
          <a:p>
            <a:pPr algn="l">
              <a:lnSpc>
                <a:spcPct val="95000"/>
              </a:lnSpc>
              <a:spcBef>
                <a:spcPts val="0"/>
              </a:spcBef>
              <a:spcAft>
                <a:spcPts val="0"/>
              </a:spcAft>
            </a:pPr>
            <a:r>
              <a:rPr sz="1600" b="1">
                <a:solidFill>
                  <a:srgbClr val="10231F"/>
                </a:solidFill>
                <a:latin typeface="Plus Jakarta Sans"/>
                <a:ea typeface="Plus Jakarta Sans"/>
                <a:cs typeface="Plus Jakarta Sans"/>
              </a:rPr>
              <a:t>Etiquetas</a:t>
            </a:r>
          </a:p>
        </p:txBody>
      </p:sp>
      <p:sp>
        <p:nvSpPr>
          <p:cNvPr id="16" name="TextBox 15"/>
          <p:cNvSpPr txBox="1"/>
          <p:nvPr/>
        </p:nvSpPr>
        <p:spPr>
          <a:xfrm>
            <a:off x="256032" y="5029200"/>
            <a:ext cx="1874519" cy="256032"/>
          </a:xfrm>
          <a:prstGeom prst="rect">
            <a:avLst/>
          </a:prstGeom>
          <a:noFill/>
        </p:spPr>
        <p:txBody>
          <a:bodyPr wrap="square" lIns="0" rIns="0" tIns="0" bIns="0" anchor="t"/>
          <a:lstStyle/>
          <a:p>
            <a:pPr algn="l">
              <a:lnSpc>
                <a:spcPct val="95000"/>
              </a:lnSpc>
              <a:spcBef>
                <a:spcPts val="0"/>
              </a:spcBef>
              <a:spcAft>
                <a:spcPts val="0"/>
              </a:spcAft>
            </a:pPr>
            <a:r>
              <a:rPr sz="1200" b="0">
                <a:solidFill>
                  <a:srgbClr val="5E6864"/>
                </a:solidFill>
                <a:latin typeface="Plus Jakarta Sans"/>
                <a:ea typeface="Plus Jakarta Sans"/>
                <a:cs typeface="Plus Jakarta Sans"/>
              </a:rPr>
              <a:t>Sin preferencias</a:t>
            </a:r>
          </a:p>
        </p:txBody>
      </p:sp>
      <p:sp>
        <p:nvSpPr>
          <p:cNvPr id="17" name="Rectangle 16"/>
          <p:cNvSpPr/>
          <p:nvPr/>
        </p:nvSpPr>
        <p:spPr>
          <a:xfrm>
            <a:off x="1965960" y="4882896"/>
            <a:ext cx="201168" cy="32004"/>
          </a:xfrm>
          <a:prstGeom prst="rect">
            <a:avLst/>
          </a:prstGeom>
          <a:solidFill>
            <a:srgbClr val="E6DF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00032" y="1965960"/>
            <a:ext cx="2286000" cy="502920"/>
          </a:xfrm>
          <a:prstGeom prst="rect">
            <a:avLst/>
          </a:prstGeom>
          <a:noFill/>
        </p:spPr>
        <p:txBody>
          <a:bodyPr wrap="square" lIns="0" rIns="0" tIns="0" bIns="0" anchor="t"/>
          <a:lstStyle/>
          <a:p>
            <a:pPr algn="l">
              <a:lnSpc>
                <a:spcPct val="95000"/>
              </a:lnSpc>
              <a:spcBef>
                <a:spcPts val="0"/>
              </a:spcBef>
              <a:spcAft>
                <a:spcPts val="0"/>
              </a:spcAft>
            </a:pPr>
            <a:r>
              <a:rPr sz="3200" b="1">
                <a:solidFill>
                  <a:srgbClr val="10231F"/>
                </a:solidFill>
                <a:latin typeface="Plus Jakarta Sans"/>
                <a:ea typeface="Plus Jakarta Sans"/>
                <a:cs typeface="Plus Jakarta Sans"/>
              </a:rPr>
              <a:t>$30</a:t>
            </a:r>
          </a:p>
        </p:txBody>
      </p:sp>
      <p:sp>
        <p:nvSpPr>
          <p:cNvPr id="19" name="Rounded Rectangle 18"/>
          <p:cNvSpPr/>
          <p:nvPr/>
        </p:nvSpPr>
        <p:spPr>
          <a:xfrm>
            <a:off x="9400032" y="2560320"/>
            <a:ext cx="1691640" cy="329184"/>
          </a:xfrm>
          <a:prstGeom prst="roundRect">
            <a:avLst>
              <a:gd name="adj" fmla="val 16000"/>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00032" y="2596896"/>
            <a:ext cx="1691640" cy="256032"/>
          </a:xfrm>
          <a:prstGeom prst="rect">
            <a:avLst/>
          </a:prstGeom>
          <a:noFill/>
        </p:spPr>
        <p:txBody>
          <a:bodyPr wrap="square" lIns="0" rIns="0" tIns="0" bIns="0" anchor="t"/>
          <a:lstStyle/>
          <a:p>
            <a:pPr algn="ctr">
              <a:lnSpc>
                <a:spcPct val="95000"/>
              </a:lnSpc>
              <a:spcBef>
                <a:spcPts val="0"/>
              </a:spcBef>
              <a:spcAft>
                <a:spcPts val="0"/>
              </a:spcAft>
            </a:pPr>
            <a:r>
              <a:rPr sz="1200" b="1">
                <a:solidFill>
                  <a:srgbClr val="FFFFFF"/>
                </a:solidFill>
                <a:latin typeface="Plus Jakarta Sans"/>
                <a:ea typeface="Plus Jakarta Sans"/>
                <a:cs typeface="Plus Jakarta Sans"/>
              </a:rPr>
              <a:t>Precio real</a:t>
            </a:r>
          </a:p>
        </p:txBody>
      </p:sp>
      <p:sp>
        <p:nvSpPr>
          <p:cNvPr id="21" name="TextBox 20"/>
          <p:cNvSpPr txBox="1"/>
          <p:nvPr/>
        </p:nvSpPr>
        <p:spPr>
          <a:xfrm>
            <a:off x="9400032" y="3108960"/>
            <a:ext cx="2286000" cy="502920"/>
          </a:xfrm>
          <a:prstGeom prst="rect">
            <a:avLst/>
          </a:prstGeom>
          <a:noFill/>
        </p:spPr>
        <p:txBody>
          <a:bodyPr wrap="square" lIns="0" rIns="0" tIns="0" bIns="0" anchor="t"/>
          <a:lstStyle/>
          <a:p>
            <a:pPr algn="l">
              <a:lnSpc>
                <a:spcPct val="95000"/>
              </a:lnSpc>
              <a:spcBef>
                <a:spcPts val="0"/>
              </a:spcBef>
              <a:spcAft>
                <a:spcPts val="0"/>
              </a:spcAft>
            </a:pPr>
            <a:r>
              <a:rPr sz="1500" b="1">
                <a:solidFill>
                  <a:srgbClr val="10231F"/>
                </a:solidFill>
                <a:latin typeface="Plus Jakarta Sans"/>
                <a:ea typeface="Plus Jakarta Sans"/>
                <a:cs typeface="Plus Jakarta Sans"/>
              </a:rPr>
              <a:t>Sellos de exceso</a:t>
            </a:r>
          </a:p>
        </p:txBody>
      </p:sp>
      <p:sp>
        <p:nvSpPr>
          <p:cNvPr id="22" name="TextBox 21"/>
          <p:cNvSpPr txBox="1"/>
          <p:nvPr/>
        </p:nvSpPr>
        <p:spPr>
          <a:xfrm>
            <a:off x="9400032" y="3657600"/>
            <a:ext cx="2286000" cy="594360"/>
          </a:xfrm>
          <a:prstGeom prst="rect">
            <a:avLst/>
          </a:prstGeom>
          <a:noFill/>
        </p:spPr>
        <p:txBody>
          <a:bodyPr wrap="square" lIns="0" rIns="0" tIns="0" bIns="0" anchor="t"/>
          <a:lstStyle/>
          <a:p>
            <a:pPr algn="l">
              <a:lnSpc>
                <a:spcPct val="95000"/>
              </a:lnSpc>
              <a:spcBef>
                <a:spcPts val="0"/>
              </a:spcBef>
              <a:spcAft>
                <a:spcPts val="0"/>
              </a:spcAft>
            </a:pPr>
            <a:r>
              <a:rPr sz="1400" b="0">
                <a:solidFill>
                  <a:srgbClr val="5E6864"/>
                </a:solidFill>
                <a:latin typeface="Plus Jakarta Sans"/>
                <a:ea typeface="Plus Jakarta Sans"/>
                <a:cs typeface="Plus Jakarta Sans"/>
              </a:rPr>
              <a:t>Grasas saturadas</a:t>
            </a:r>
          </a:p>
          <a:p>
            <a:pPr algn="l">
              <a:lnSpc>
                <a:spcPct val="95000"/>
              </a:lnSpc>
              <a:spcBef>
                <a:spcPts val="0"/>
              </a:spcBef>
              <a:spcAft>
                <a:spcPts val="0"/>
              </a:spcAft>
            </a:pPr>
            <a:r>
              <a:rPr sz="1400" b="0">
                <a:solidFill>
                  <a:srgbClr val="5E6864"/>
                </a:solidFill>
                <a:latin typeface="Plus Jakarta Sans"/>
                <a:ea typeface="Plus Jakarta Sans"/>
                <a:cs typeface="Plus Jakarta Sans"/>
              </a:rPr>
              <a:t>Sodio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7315200" cy="256032"/>
          </a:xfrm>
          <a:prstGeom prst="rect">
            <a:avLst/>
          </a:prstGeom>
          <a:noFill/>
        </p:spPr>
        <p:txBody>
          <a:bodyPr wrap="square" lIns="0" rIns="0" tIns="0" bIns="0" anchor="t"/>
          <a:lstStyle/>
          <a:p>
            <a:pPr algn="l">
              <a:lnSpc>
                <a:spcPct val="95000"/>
              </a:lnSpc>
              <a:spcBef>
                <a:spcPts val="0"/>
              </a:spcBef>
              <a:spcAft>
                <a:spcPts val="0"/>
              </a:spcAft>
            </a:pPr>
            <a:r>
              <a:rPr sz="1300" b="1">
                <a:solidFill>
                  <a:srgbClr val="0F6B63"/>
                </a:solidFill>
                <a:latin typeface="Plus Jakarta Sans"/>
                <a:ea typeface="Plus Jakarta Sans"/>
                <a:cs typeface="Plus Jakarta Sans"/>
              </a:rPr>
              <a:t>06   /   ALTERNATIVAS</a:t>
            </a:r>
          </a:p>
        </p:txBody>
      </p:sp>
      <p:sp>
        <p:nvSpPr>
          <p:cNvPr id="3" name="TextBox 2"/>
          <p:cNvSpPr txBox="1"/>
          <p:nvPr/>
        </p:nvSpPr>
        <p:spPr>
          <a:xfrm>
            <a:off x="11109960" y="6510528"/>
            <a:ext cx="640080" cy="237744"/>
          </a:xfrm>
          <a:prstGeom prst="rect">
            <a:avLst/>
          </a:prstGeom>
          <a:noFill/>
        </p:spPr>
        <p:txBody>
          <a:bodyPr wrap="square" lIns="0" rIns="0" tIns="0" bIns="0" anchor="t"/>
          <a:lstStyle/>
          <a:p>
            <a:pPr algn="r">
              <a:lnSpc>
                <a:spcPct val="95000"/>
              </a:lnSpc>
              <a:spcBef>
                <a:spcPts val="0"/>
              </a:spcBef>
              <a:spcAft>
                <a:spcPts val="0"/>
              </a:spcAft>
            </a:pPr>
            <a:r>
              <a:rPr sz="1200" b="1">
                <a:solidFill>
                  <a:srgbClr val="0F6B63"/>
                </a:solidFill>
                <a:latin typeface="Plus Jakarta Sans"/>
                <a:ea typeface="Plus Jakarta Sans"/>
                <a:cs typeface="Plus Jakarta Sans"/>
              </a:rPr>
              <a:t>06</a:t>
            </a:r>
          </a:p>
        </p:txBody>
      </p:sp>
      <p:sp>
        <p:nvSpPr>
          <p:cNvPr id="4" name="TextBox 3"/>
          <p:cNvSpPr txBox="1"/>
          <p:nvPr/>
        </p:nvSpPr>
        <p:spPr>
          <a:xfrm>
            <a:off x="365760" y="475488"/>
            <a:ext cx="10972800" cy="384048"/>
          </a:xfrm>
          <a:prstGeom prst="rect">
            <a:avLst/>
          </a:prstGeom>
          <a:noFill/>
        </p:spPr>
        <p:txBody>
          <a:bodyPr wrap="square" lIns="0" rIns="0" tIns="0" bIns="0" anchor="t"/>
          <a:lstStyle/>
          <a:p>
            <a:pPr algn="l">
              <a:lnSpc>
                <a:spcPct val="95000"/>
              </a:lnSpc>
              <a:spcBef>
                <a:spcPts val="0"/>
              </a:spcBef>
              <a:spcAft>
                <a:spcPts val="0"/>
              </a:spcAft>
            </a:pPr>
            <a:r>
              <a:rPr sz="2800" b="1">
                <a:solidFill>
                  <a:srgbClr val="10231F"/>
                </a:solidFill>
                <a:latin typeface="Plus Jakarta Sans"/>
                <a:ea typeface="Plus Jakarta Sans"/>
                <a:cs typeface="Plus Jakarta Sans"/>
              </a:rPr>
              <a:t>Otras opciones del mismo grupo</a:t>
            </a:r>
          </a:p>
        </p:txBody>
      </p:sp>
      <p:sp>
        <p:nvSpPr>
          <p:cNvPr id="5" name="Rounded Rectangle 4"/>
          <p:cNvSpPr/>
          <p:nvPr/>
        </p:nvSpPr>
        <p:spPr>
          <a:xfrm>
            <a:off x="365760" y="1051560"/>
            <a:ext cx="3246120" cy="4160520"/>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207008"/>
            <a:ext cx="2926080" cy="256032"/>
          </a:xfrm>
          <a:prstGeom prst="rect">
            <a:avLst/>
          </a:prstGeom>
          <a:noFill/>
        </p:spPr>
        <p:txBody>
          <a:bodyPr wrap="square" lIns="0" rIns="0" tIns="0" bIns="0" anchor="t"/>
          <a:lstStyle/>
          <a:p>
            <a:pPr algn="l">
              <a:lnSpc>
                <a:spcPct val="95000"/>
              </a:lnSpc>
              <a:spcBef>
                <a:spcPts val="0"/>
              </a:spcBef>
              <a:spcAft>
                <a:spcPts val="0"/>
              </a:spcAft>
            </a:pPr>
            <a:r>
              <a:rPr sz="1200" b="1">
                <a:solidFill>
                  <a:srgbClr val="5E6864"/>
                </a:solidFill>
                <a:latin typeface="Plus Jakarta Sans"/>
                <a:ea typeface="Plus Jakarta Sans"/>
                <a:cs typeface="Plus Jakarta Sans"/>
              </a:rPr>
              <a:t>BÚFALO</a:t>
            </a:r>
          </a:p>
        </p:txBody>
      </p:sp>
      <p:sp>
        <p:nvSpPr>
          <p:cNvPr id="7" name="TextBox 6"/>
          <p:cNvSpPr txBox="1"/>
          <p:nvPr/>
        </p:nvSpPr>
        <p:spPr>
          <a:xfrm>
            <a:off x="530352" y="1508760"/>
            <a:ext cx="2926080" cy="548640"/>
          </a:xfrm>
          <a:prstGeom prst="rect">
            <a:avLst/>
          </a:prstGeom>
          <a:noFill/>
        </p:spPr>
        <p:txBody>
          <a:bodyPr wrap="square" lIns="0" rIns="0" tIns="0" bIns="0" anchor="t"/>
          <a:lstStyle/>
          <a:p>
            <a:pPr algn="l">
              <a:lnSpc>
                <a:spcPct val="95000"/>
              </a:lnSpc>
              <a:spcBef>
                <a:spcPts val="0"/>
              </a:spcBef>
              <a:spcAft>
                <a:spcPts val="0"/>
              </a:spcAft>
            </a:pPr>
            <a:r>
              <a:rPr sz="3600" b="1">
                <a:solidFill>
                  <a:srgbClr val="0A4A40"/>
                </a:solidFill>
                <a:latin typeface="Plus Jakarta Sans"/>
                <a:ea typeface="Plus Jakarta Sans"/>
                <a:cs typeface="Plus Jakarta Sans"/>
              </a:rPr>
              <a:t>≈ 40</a:t>
            </a:r>
          </a:p>
        </p:txBody>
      </p:sp>
      <p:sp>
        <p:nvSpPr>
          <p:cNvPr id="8" name="TextBox 7"/>
          <p:cNvSpPr txBox="1"/>
          <p:nvPr/>
        </p:nvSpPr>
        <p:spPr>
          <a:xfrm>
            <a:off x="530352" y="2103120"/>
            <a:ext cx="2926080" cy="365760"/>
          </a:xfrm>
          <a:prstGeom prst="rect">
            <a:avLst/>
          </a:prstGeom>
          <a:noFill/>
        </p:spPr>
        <p:txBody>
          <a:bodyPr wrap="square" lIns="0" rIns="0" tIns="0" bIns="0" anchor="t"/>
          <a:lstStyle/>
          <a:p>
            <a:pPr algn="l">
              <a:lnSpc>
                <a:spcPct val="95000"/>
              </a:lnSpc>
              <a:spcBef>
                <a:spcPts val="0"/>
              </a:spcBef>
              <a:spcAft>
                <a:spcPts val="0"/>
              </a:spcAft>
            </a:pPr>
            <a:r>
              <a:rPr sz="2200" b="1">
                <a:solidFill>
                  <a:srgbClr val="10231F"/>
                </a:solidFill>
                <a:latin typeface="Plus Jakarta Sans"/>
                <a:ea typeface="Plus Jakarta Sans"/>
                <a:cs typeface="Plus Jakarta Sans"/>
              </a:rPr>
              <a:t>$30</a:t>
            </a:r>
          </a:p>
        </p:txBody>
      </p:sp>
      <p:sp>
        <p:nvSpPr>
          <p:cNvPr id="9" name="Rounded Rectangle 8"/>
          <p:cNvSpPr/>
          <p:nvPr/>
        </p:nvSpPr>
        <p:spPr>
          <a:xfrm>
            <a:off x="530352" y="2560320"/>
            <a:ext cx="1554480" cy="310896"/>
          </a:xfrm>
          <a:prstGeom prst="roundRect">
            <a:avLst>
              <a:gd name="adj" fmla="val 16000"/>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2578608"/>
            <a:ext cx="1554480" cy="274320"/>
          </a:xfrm>
          <a:prstGeom prst="rect">
            <a:avLst/>
          </a:prstGeom>
          <a:noFill/>
        </p:spPr>
        <p:txBody>
          <a:bodyPr wrap="square" lIns="0" rIns="0" tIns="0" bIns="0" anchor="t"/>
          <a:lstStyle/>
          <a:p>
            <a:pPr algn="ctr">
              <a:lnSpc>
                <a:spcPct val="95000"/>
              </a:lnSpc>
              <a:spcBef>
                <a:spcPts val="0"/>
              </a:spcBef>
              <a:spcAft>
                <a:spcPts val="0"/>
              </a:spcAft>
            </a:pPr>
            <a:r>
              <a:rPr sz="1200" b="1">
                <a:solidFill>
                  <a:srgbClr val="FFFFFF"/>
                </a:solidFill>
                <a:latin typeface="Plus Jakarta Sans"/>
                <a:ea typeface="Plus Jakarta Sans"/>
                <a:cs typeface="Plus Jakarta Sans"/>
              </a:rPr>
              <a:t>Precio real</a:t>
            </a:r>
          </a:p>
        </p:txBody>
      </p:sp>
      <p:sp>
        <p:nvSpPr>
          <p:cNvPr id="11" name="TextBox 10"/>
          <p:cNvSpPr txBox="1"/>
          <p:nvPr/>
        </p:nvSpPr>
        <p:spPr>
          <a:xfrm>
            <a:off x="530352" y="2971800"/>
            <a:ext cx="914400" cy="292608"/>
          </a:xfrm>
          <a:prstGeom prst="rect">
            <a:avLst/>
          </a:prstGeom>
          <a:noFill/>
        </p:spPr>
        <p:txBody>
          <a:bodyPr wrap="square" lIns="0" rIns="0" tIns="0" bIns="0" anchor="t"/>
          <a:lstStyle/>
          <a:p>
            <a:pPr algn="l">
              <a:lnSpc>
                <a:spcPct val="95000"/>
              </a:lnSpc>
              <a:spcBef>
                <a:spcPts val="0"/>
              </a:spcBef>
              <a:spcAft>
                <a:spcPts val="0"/>
              </a:spcAft>
            </a:pPr>
            <a:r>
              <a:rPr sz="1800" b="1">
                <a:solidFill>
                  <a:srgbClr val="E86A2A"/>
                </a:solidFill>
                <a:latin typeface="Plus Jakarta Sans"/>
                <a:ea typeface="Plus Jakarta Sans"/>
                <a:cs typeface="Plus Jakarta Sans"/>
              </a:rPr>
              <a:t>↓</a:t>
            </a:r>
          </a:p>
        </p:txBody>
      </p:sp>
      <p:sp>
        <p:nvSpPr>
          <p:cNvPr id="12" name="TextBox 11"/>
          <p:cNvSpPr txBox="1"/>
          <p:nvPr/>
        </p:nvSpPr>
        <p:spPr>
          <a:xfrm>
            <a:off x="530352" y="3273552"/>
            <a:ext cx="2926080" cy="320040"/>
          </a:xfrm>
          <a:prstGeom prst="rect">
            <a:avLst/>
          </a:prstGeom>
          <a:noFill/>
        </p:spPr>
        <p:txBody>
          <a:bodyPr wrap="square" lIns="0" rIns="0" tIns="0" bIns="0" anchor="t"/>
          <a:lstStyle/>
          <a:p>
            <a:pPr algn="l">
              <a:lnSpc>
                <a:spcPct val="95000"/>
              </a:lnSpc>
              <a:spcBef>
                <a:spcPts val="0"/>
              </a:spcBef>
              <a:spcAft>
                <a:spcPts val="0"/>
              </a:spcAft>
            </a:pPr>
            <a:r>
              <a:rPr sz="1400" b="1">
                <a:solidFill>
                  <a:srgbClr val="10231F"/>
                </a:solidFill>
                <a:latin typeface="Plus Jakarta Sans"/>
                <a:ea typeface="Plus Jakarta Sans"/>
                <a:cs typeface="Plus Jakarta Sans"/>
              </a:rPr>
              <a:t>Explorar alternativas</a:t>
            </a:r>
          </a:p>
        </p:txBody>
      </p:sp>
      <p:sp>
        <p:nvSpPr>
          <p:cNvPr id="13" name="TextBox 12"/>
          <p:cNvSpPr txBox="1"/>
          <p:nvPr/>
        </p:nvSpPr>
        <p:spPr>
          <a:xfrm>
            <a:off x="530352" y="3611880"/>
            <a:ext cx="914400" cy="292608"/>
          </a:xfrm>
          <a:prstGeom prst="rect">
            <a:avLst/>
          </a:prstGeom>
          <a:noFill/>
        </p:spPr>
        <p:txBody>
          <a:bodyPr wrap="square" lIns="0" rIns="0" tIns="0" bIns="0" anchor="t"/>
          <a:lstStyle/>
          <a:p>
            <a:pPr algn="l">
              <a:lnSpc>
                <a:spcPct val="95000"/>
              </a:lnSpc>
              <a:spcBef>
                <a:spcPts val="0"/>
              </a:spcBef>
              <a:spcAft>
                <a:spcPts val="0"/>
              </a:spcAft>
            </a:pPr>
            <a:r>
              <a:rPr sz="1800" b="1">
                <a:solidFill>
                  <a:srgbClr val="E86A2A"/>
                </a:solidFill>
                <a:latin typeface="Plus Jakarta Sans"/>
                <a:ea typeface="Plus Jakarta Sans"/>
                <a:cs typeface="Plus Jakarta Sans"/>
              </a:rPr>
              <a:t>↓</a:t>
            </a:r>
          </a:p>
        </p:txBody>
      </p:sp>
      <p:sp>
        <p:nvSpPr>
          <p:cNvPr id="14" name="Rounded Rectangle 13"/>
          <p:cNvSpPr/>
          <p:nvPr/>
        </p:nvSpPr>
        <p:spPr>
          <a:xfrm>
            <a:off x="530352" y="4023360"/>
            <a:ext cx="1965960" cy="365760"/>
          </a:xfrm>
          <a:prstGeom prst="roundRect">
            <a:avLst>
              <a:gd name="adj" fmla="val 16000"/>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4059936"/>
            <a:ext cx="1965960" cy="292608"/>
          </a:xfrm>
          <a:prstGeom prst="rect">
            <a:avLst/>
          </a:prstGeom>
          <a:noFill/>
        </p:spPr>
        <p:txBody>
          <a:bodyPr wrap="square" lIns="0" rIns="0" tIns="0" bIns="0" anchor="t"/>
          <a:lstStyle/>
          <a:p>
            <a:pPr algn="ctr">
              <a:lnSpc>
                <a:spcPct val="95000"/>
              </a:lnSpc>
              <a:spcBef>
                <a:spcPts val="0"/>
              </a:spcBef>
              <a:spcAft>
                <a:spcPts val="0"/>
              </a:spcAft>
            </a:pPr>
            <a:r>
              <a:rPr sz="1400" b="1">
                <a:solidFill>
                  <a:srgbClr val="FFFFFF"/>
                </a:solidFill>
                <a:latin typeface="Plus Jakarta Sans"/>
                <a:ea typeface="Plus Jakarta Sans"/>
                <a:cs typeface="Plus Jakarta Sans"/>
              </a:rPr>
              <a:t>Sustituir</a:t>
            </a:r>
          </a:p>
        </p:txBody>
      </p:sp>
      <p:pic>
        <p:nvPicPr>
          <p:cNvPr id="16" name="Picture 15" descr="s6-alt.png"/>
          <p:cNvPicPr>
            <a:picLocks noChangeAspect="1"/>
          </p:cNvPicPr>
          <p:nvPr/>
        </p:nvPicPr>
        <p:blipFill>
          <a:blip r:embed="rId2"/>
          <a:stretch>
            <a:fillRect/>
          </a:stretch>
        </p:blipFill>
        <p:spPr>
          <a:xfrm>
            <a:off x="3794760" y="1005840"/>
            <a:ext cx="7040130" cy="4251960"/>
          </a:xfrm>
          <a:prstGeom prst="rect">
            <a:avLst/>
          </a:prstGeom>
        </p:spPr>
      </p:pic>
      <p:sp>
        <p:nvSpPr>
          <p:cNvPr id="17" name="TextBox 16"/>
          <p:cNvSpPr txBox="1"/>
          <p:nvPr/>
        </p:nvSpPr>
        <p:spPr>
          <a:xfrm>
            <a:off x="384048" y="5440680"/>
            <a:ext cx="11247120" cy="365760"/>
          </a:xfrm>
          <a:prstGeom prst="rect">
            <a:avLst/>
          </a:prstGeom>
          <a:noFill/>
        </p:spPr>
        <p:txBody>
          <a:bodyPr wrap="square" lIns="0" rIns="0" tIns="0" bIns="0" anchor="t"/>
          <a:lstStyle/>
          <a:p>
            <a:pPr algn="l">
              <a:lnSpc>
                <a:spcPct val="95000"/>
              </a:lnSpc>
              <a:spcBef>
                <a:spcPts val="0"/>
              </a:spcBef>
              <a:spcAft>
                <a:spcPts val="0"/>
              </a:spcAft>
            </a:pPr>
            <a:r>
              <a:rPr sz="1800" b="1">
                <a:solidFill>
                  <a:srgbClr val="C41E3A"/>
                </a:solidFill>
                <a:latin typeface="Plus Jakarta Sans"/>
                <a:ea typeface="Plus Jakarta Sans"/>
                <a:cs typeface="Plus Jakarta Sans"/>
              </a:rPr>
              <a:t>Con las prioridades que declaré, queda por encima.</a:t>
            </a:r>
          </a:p>
        </p:txBody>
      </p:sp>
      <p:sp>
        <p:nvSpPr>
          <p:cNvPr id="18" name="TextBox 17"/>
          <p:cNvSpPr txBox="1"/>
          <p:nvPr/>
        </p:nvSpPr>
        <p:spPr>
          <a:xfrm>
            <a:off x="384048" y="5897880"/>
            <a:ext cx="10972800" cy="292608"/>
          </a:xfrm>
          <a:prstGeom prst="rect">
            <a:avLst/>
          </a:prstGeom>
          <a:noFill/>
        </p:spPr>
        <p:txBody>
          <a:bodyPr wrap="square" lIns="0" rIns="0" tIns="0" bIns="0" anchor="t"/>
          <a:lstStyle/>
          <a:p>
            <a:pPr algn="l">
              <a:lnSpc>
                <a:spcPct val="95000"/>
              </a:lnSpc>
              <a:spcBef>
                <a:spcPts val="0"/>
              </a:spcBef>
              <a:spcAft>
                <a:spcPts val="0"/>
              </a:spcAft>
            </a:pPr>
            <a:r>
              <a:rPr sz="1400" b="0">
                <a:solidFill>
                  <a:srgbClr val="5E6864"/>
                </a:solidFill>
                <a:latin typeface="Plus Jakarta Sans"/>
                <a:ea typeface="Plus Jakarta Sans"/>
                <a:cs typeface="Plus Jakarta Sans"/>
              </a:rPr>
              <a:t>El precio se muestra como información; no determina el orden.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7315200" cy="256032"/>
          </a:xfrm>
          <a:prstGeom prst="rect">
            <a:avLst/>
          </a:prstGeom>
          <a:noFill/>
        </p:spPr>
        <p:txBody>
          <a:bodyPr wrap="square" lIns="0" rIns="0" tIns="0" bIns="0" anchor="t"/>
          <a:lstStyle/>
          <a:p>
            <a:pPr algn="l">
              <a:lnSpc>
                <a:spcPct val="95000"/>
              </a:lnSpc>
              <a:spcBef>
                <a:spcPts val="0"/>
              </a:spcBef>
              <a:spcAft>
                <a:spcPts val="0"/>
              </a:spcAft>
            </a:pPr>
            <a:r>
              <a:rPr sz="1300" b="1">
                <a:solidFill>
                  <a:srgbClr val="0F6B63"/>
                </a:solidFill>
                <a:latin typeface="Plus Jakarta Sans"/>
                <a:ea typeface="Plus Jakarta Sans"/>
                <a:cs typeface="Plus Jakarta Sans"/>
              </a:rPr>
              <a:t>07   /   CARRITO</a:t>
            </a:r>
          </a:p>
        </p:txBody>
      </p:sp>
      <p:sp>
        <p:nvSpPr>
          <p:cNvPr id="3" name="TextBox 2"/>
          <p:cNvSpPr txBox="1"/>
          <p:nvPr/>
        </p:nvSpPr>
        <p:spPr>
          <a:xfrm>
            <a:off x="11109960" y="6510528"/>
            <a:ext cx="640080" cy="237744"/>
          </a:xfrm>
          <a:prstGeom prst="rect">
            <a:avLst/>
          </a:prstGeom>
          <a:noFill/>
        </p:spPr>
        <p:txBody>
          <a:bodyPr wrap="square" lIns="0" rIns="0" tIns="0" bIns="0" anchor="t"/>
          <a:lstStyle/>
          <a:p>
            <a:pPr algn="r">
              <a:lnSpc>
                <a:spcPct val="95000"/>
              </a:lnSpc>
              <a:spcBef>
                <a:spcPts val="0"/>
              </a:spcBef>
              <a:spcAft>
                <a:spcPts val="0"/>
              </a:spcAft>
            </a:pPr>
            <a:r>
              <a:rPr sz="1200" b="1">
                <a:solidFill>
                  <a:srgbClr val="0F6B63"/>
                </a:solidFill>
                <a:latin typeface="Plus Jakarta Sans"/>
                <a:ea typeface="Plus Jakarta Sans"/>
                <a:cs typeface="Plus Jakarta Sans"/>
              </a:rPr>
              <a:t>07</a:t>
            </a:r>
          </a:p>
        </p:txBody>
      </p:sp>
      <p:sp>
        <p:nvSpPr>
          <p:cNvPr id="4" name="TextBox 3"/>
          <p:cNvSpPr txBox="1"/>
          <p:nvPr/>
        </p:nvSpPr>
        <p:spPr>
          <a:xfrm>
            <a:off x="384048" y="475488"/>
            <a:ext cx="10972800" cy="384048"/>
          </a:xfrm>
          <a:prstGeom prst="rect">
            <a:avLst/>
          </a:prstGeom>
          <a:noFill/>
        </p:spPr>
        <p:txBody>
          <a:bodyPr wrap="square" lIns="0" rIns="0" tIns="0" bIns="0" anchor="t"/>
          <a:lstStyle/>
          <a:p>
            <a:pPr algn="l">
              <a:lnSpc>
                <a:spcPct val="95000"/>
              </a:lnSpc>
              <a:spcBef>
                <a:spcPts val="0"/>
              </a:spcBef>
              <a:spcAft>
                <a:spcPts val="0"/>
              </a:spcAft>
            </a:pPr>
            <a:r>
              <a:rPr sz="2800" b="1">
                <a:solidFill>
                  <a:srgbClr val="10231F"/>
                </a:solidFill>
                <a:latin typeface="Plus Jakarta Sans"/>
                <a:ea typeface="Plus Jakarta Sans"/>
                <a:cs typeface="Plus Jakarta Sans"/>
              </a:rPr>
              <a:t>La elección queda en el carrito</a:t>
            </a:r>
          </a:p>
        </p:txBody>
      </p:sp>
      <p:sp>
        <p:nvSpPr>
          <p:cNvPr id="5" name="TextBox 4"/>
          <p:cNvSpPr txBox="1"/>
          <p:nvPr/>
        </p:nvSpPr>
        <p:spPr>
          <a:xfrm>
            <a:off x="384048" y="932688"/>
            <a:ext cx="2011680" cy="219456"/>
          </a:xfrm>
          <a:prstGeom prst="rect">
            <a:avLst/>
          </a:prstGeom>
          <a:noFill/>
        </p:spPr>
        <p:txBody>
          <a:bodyPr wrap="square" lIns="0" rIns="0" tIns="0" bIns="0" anchor="t"/>
          <a:lstStyle/>
          <a:p>
            <a:pPr algn="l">
              <a:lnSpc>
                <a:spcPct val="95000"/>
              </a:lnSpc>
              <a:spcBef>
                <a:spcPts val="0"/>
              </a:spcBef>
              <a:spcAft>
                <a:spcPts val="0"/>
              </a:spcAft>
            </a:pPr>
            <a:r>
              <a:rPr sz="1200" b="1">
                <a:solidFill>
                  <a:srgbClr val="0F6B63"/>
                </a:solidFill>
                <a:latin typeface="Plus Jakarta Sans"/>
                <a:ea typeface="Plus Jakarta Sans"/>
                <a:cs typeface="Plus Jakarta Sans"/>
              </a:rPr>
              <a:t>ELECCIÓN</a:t>
            </a:r>
          </a:p>
        </p:txBody>
      </p:sp>
      <p:sp>
        <p:nvSpPr>
          <p:cNvPr id="6" name="TextBox 5"/>
          <p:cNvSpPr txBox="1"/>
          <p:nvPr/>
        </p:nvSpPr>
        <p:spPr>
          <a:xfrm>
            <a:off x="2286000" y="914400"/>
            <a:ext cx="7772400" cy="256032"/>
          </a:xfrm>
          <a:prstGeom prst="rect">
            <a:avLst/>
          </a:prstGeom>
          <a:noFill/>
        </p:spPr>
        <p:txBody>
          <a:bodyPr wrap="square" lIns="0" rIns="0" tIns="0" bIns="0" anchor="t"/>
          <a:lstStyle/>
          <a:p>
            <a:pPr algn="l">
              <a:lnSpc>
                <a:spcPct val="95000"/>
              </a:lnSpc>
              <a:spcBef>
                <a:spcPts val="0"/>
              </a:spcBef>
              <a:spcAft>
                <a:spcPts val="0"/>
              </a:spcAft>
            </a:pPr>
            <a:r>
              <a:rPr sz="1400" b="1">
                <a:solidFill>
                  <a:srgbClr val="E86A2A"/>
                </a:solidFill>
                <a:latin typeface="Plus Jakarta Sans"/>
                <a:ea typeface="Plus Jakarta Sans"/>
                <a:cs typeface="Plus Jakarta Sans"/>
              </a:rPr>
              <a:t>La Cibeles  ·  $74  ·  Precio de demostración</a:t>
            </a:r>
          </a:p>
        </p:txBody>
      </p:sp>
      <p:pic>
        <p:nvPicPr>
          <p:cNvPr id="7" name="Picture 6" descr="s7-cart.png"/>
          <p:cNvPicPr>
            <a:picLocks noChangeAspect="1"/>
          </p:cNvPicPr>
          <p:nvPr/>
        </p:nvPicPr>
        <p:blipFill>
          <a:blip r:embed="rId2"/>
          <a:stretch>
            <a:fillRect/>
          </a:stretch>
        </p:blipFill>
        <p:spPr>
          <a:xfrm>
            <a:off x="347472" y="1207008"/>
            <a:ext cx="9555857" cy="2057400"/>
          </a:xfrm>
          <a:prstGeom prst="rect">
            <a:avLst/>
          </a:prstGeom>
        </p:spPr>
      </p:pic>
      <p:sp>
        <p:nvSpPr>
          <p:cNvPr id="8" name="TextBox 7"/>
          <p:cNvSpPr txBox="1"/>
          <p:nvPr/>
        </p:nvSpPr>
        <p:spPr>
          <a:xfrm>
            <a:off x="384048" y="3557016"/>
            <a:ext cx="2377440" cy="219456"/>
          </a:xfrm>
          <a:prstGeom prst="rect">
            <a:avLst/>
          </a:prstGeom>
          <a:noFill/>
        </p:spPr>
        <p:txBody>
          <a:bodyPr wrap="square" lIns="0" rIns="0" tIns="0" bIns="0" anchor="t"/>
          <a:lstStyle/>
          <a:p>
            <a:pPr algn="l">
              <a:lnSpc>
                <a:spcPct val="95000"/>
              </a:lnSpc>
              <a:spcBef>
                <a:spcPts val="0"/>
              </a:spcBef>
              <a:spcAft>
                <a:spcPts val="0"/>
              </a:spcAft>
            </a:pPr>
            <a:r>
              <a:rPr sz="1200" b="1">
                <a:solidFill>
                  <a:srgbClr val="0F6B63"/>
                </a:solidFill>
                <a:latin typeface="Plus Jakarta Sans"/>
                <a:ea typeface="Plus Jakarta Sans"/>
                <a:cs typeface="Plus Jakarta Sans"/>
              </a:rPr>
              <a:t>DISTRIBUCIÓN</a:t>
            </a:r>
          </a:p>
        </p:txBody>
      </p:sp>
      <p:sp>
        <p:nvSpPr>
          <p:cNvPr id="9" name="TextBox 8"/>
          <p:cNvSpPr txBox="1"/>
          <p:nvPr/>
        </p:nvSpPr>
        <p:spPr>
          <a:xfrm>
            <a:off x="2880360" y="3538728"/>
            <a:ext cx="6400800" cy="256032"/>
          </a:xfrm>
          <a:prstGeom prst="rect">
            <a:avLst/>
          </a:prstGeom>
          <a:noFill/>
        </p:spPr>
        <p:txBody>
          <a:bodyPr wrap="square" lIns="0" rIns="0" tIns="0" bIns="0" anchor="t"/>
          <a:lstStyle/>
          <a:p>
            <a:pPr algn="l">
              <a:lnSpc>
                <a:spcPct val="95000"/>
              </a:lnSpc>
              <a:spcBef>
                <a:spcPts val="0"/>
              </a:spcBef>
              <a:spcAft>
                <a:spcPts val="0"/>
              </a:spcAft>
            </a:pPr>
            <a:r>
              <a:rPr sz="1600" b="1">
                <a:solidFill>
                  <a:srgbClr val="0A4A40"/>
                </a:solidFill>
                <a:latin typeface="Plus Jakarta Sans"/>
                <a:ea typeface="Plus Jakarta Sans"/>
                <a:cs typeface="Plus Jakarta Sans"/>
              </a:rPr>
              <a:t>No clasificado  ·  100 %</a:t>
            </a:r>
          </a:p>
        </p:txBody>
      </p:sp>
      <p:pic>
        <p:nvPicPr>
          <p:cNvPr id="10" name="Picture 9" descr="s7-plato-l.png"/>
          <p:cNvPicPr>
            <a:picLocks noChangeAspect="1"/>
          </p:cNvPicPr>
          <p:nvPr/>
        </p:nvPicPr>
        <p:blipFill>
          <a:blip r:embed="rId3"/>
          <a:stretch>
            <a:fillRect/>
          </a:stretch>
        </p:blipFill>
        <p:spPr>
          <a:xfrm>
            <a:off x="347472" y="3849624"/>
            <a:ext cx="4084246" cy="1965960"/>
          </a:xfrm>
          <a:prstGeom prst="rect">
            <a:avLst/>
          </a:prstGeom>
        </p:spPr>
      </p:pic>
      <p:pic>
        <p:nvPicPr>
          <p:cNvPr id="11" name="Picture 10" descr="s7-plato-r.png"/>
          <p:cNvPicPr>
            <a:picLocks noChangeAspect="1"/>
          </p:cNvPicPr>
          <p:nvPr/>
        </p:nvPicPr>
        <p:blipFill>
          <a:blip r:embed="rId4"/>
          <a:stretch>
            <a:fillRect/>
          </a:stretch>
        </p:blipFill>
        <p:spPr>
          <a:xfrm>
            <a:off x="4617720" y="3849624"/>
            <a:ext cx="6424838" cy="1965960"/>
          </a:xfrm>
          <a:prstGeom prst="rect">
            <a:avLst/>
          </a:prstGeom>
        </p:spPr>
      </p:pic>
      <p:sp>
        <p:nvSpPr>
          <p:cNvPr id="12" name="TextBox 11"/>
          <p:cNvSpPr txBox="1"/>
          <p:nvPr/>
        </p:nvSpPr>
        <p:spPr>
          <a:xfrm>
            <a:off x="384048" y="6355080"/>
            <a:ext cx="7315200" cy="256032"/>
          </a:xfrm>
          <a:prstGeom prst="rect">
            <a:avLst/>
          </a:prstGeom>
          <a:noFill/>
        </p:spPr>
        <p:txBody>
          <a:bodyPr wrap="square" lIns="0" rIns="0" tIns="0" bIns="0" anchor="t"/>
          <a:lstStyle/>
          <a:p>
            <a:pPr algn="l">
              <a:lnSpc>
                <a:spcPct val="95000"/>
              </a:lnSpc>
              <a:spcBef>
                <a:spcPts val="0"/>
              </a:spcBef>
              <a:spcAft>
                <a:spcPts val="0"/>
              </a:spcAft>
            </a:pPr>
            <a:r>
              <a:rPr sz="1300" b="0">
                <a:solidFill>
                  <a:srgbClr val="5E6864"/>
                </a:solidFill>
                <a:latin typeface="Plus Jakarta Sans"/>
                <a:ea typeface="Plus Jakarta Sans"/>
                <a:cs typeface="Plus Jakarta Sans"/>
              </a:rPr>
              <a:t>Distribución por número de productos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7315200" cy="256032"/>
          </a:xfrm>
          <a:prstGeom prst="rect">
            <a:avLst/>
          </a:prstGeom>
          <a:noFill/>
        </p:spPr>
        <p:txBody>
          <a:bodyPr wrap="square" lIns="0" rIns="0" tIns="0" bIns="0" anchor="t"/>
          <a:lstStyle/>
          <a:p>
            <a:pPr algn="l">
              <a:lnSpc>
                <a:spcPct val="95000"/>
              </a:lnSpc>
              <a:spcBef>
                <a:spcPts val="0"/>
              </a:spcBef>
              <a:spcAft>
                <a:spcPts val="0"/>
              </a:spcAft>
            </a:pPr>
            <a:r>
              <a:rPr sz="1300" b="1">
                <a:solidFill>
                  <a:srgbClr val="0F6B63"/>
                </a:solidFill>
                <a:latin typeface="Plus Jakarta Sans"/>
                <a:ea typeface="Plus Jakarta Sans"/>
                <a:cs typeface="Plus Jakarta Sans"/>
              </a:rPr>
              <a:t>08   /   ALERTAS</a:t>
            </a:r>
          </a:p>
        </p:txBody>
      </p:sp>
      <p:sp>
        <p:nvSpPr>
          <p:cNvPr id="3" name="TextBox 2"/>
          <p:cNvSpPr txBox="1"/>
          <p:nvPr/>
        </p:nvSpPr>
        <p:spPr>
          <a:xfrm>
            <a:off x="11109960" y="6510528"/>
            <a:ext cx="640080" cy="237744"/>
          </a:xfrm>
          <a:prstGeom prst="rect">
            <a:avLst/>
          </a:prstGeom>
          <a:noFill/>
        </p:spPr>
        <p:txBody>
          <a:bodyPr wrap="square" lIns="0" rIns="0" tIns="0" bIns="0" anchor="t"/>
          <a:lstStyle/>
          <a:p>
            <a:pPr algn="r">
              <a:lnSpc>
                <a:spcPct val="95000"/>
              </a:lnSpc>
              <a:spcBef>
                <a:spcPts val="0"/>
              </a:spcBef>
              <a:spcAft>
                <a:spcPts val="0"/>
              </a:spcAft>
            </a:pPr>
            <a:r>
              <a:rPr sz="1200" b="1">
                <a:solidFill>
                  <a:srgbClr val="0F6B63"/>
                </a:solidFill>
                <a:latin typeface="Plus Jakarta Sans"/>
                <a:ea typeface="Plus Jakarta Sans"/>
                <a:cs typeface="Plus Jakarta Sans"/>
              </a:rPr>
              <a:t>08</a:t>
            </a:r>
          </a:p>
        </p:txBody>
      </p:sp>
      <p:sp>
        <p:nvSpPr>
          <p:cNvPr id="4" name="TextBox 3"/>
          <p:cNvSpPr txBox="1"/>
          <p:nvPr/>
        </p:nvSpPr>
        <p:spPr>
          <a:xfrm>
            <a:off x="384048" y="475488"/>
            <a:ext cx="7315200" cy="384048"/>
          </a:xfrm>
          <a:prstGeom prst="rect">
            <a:avLst/>
          </a:prstGeom>
          <a:noFill/>
        </p:spPr>
        <p:txBody>
          <a:bodyPr wrap="square" lIns="0" rIns="0" tIns="0" bIns="0" anchor="t"/>
          <a:lstStyle/>
          <a:p>
            <a:pPr algn="l">
              <a:lnSpc>
                <a:spcPct val="95000"/>
              </a:lnSpc>
              <a:spcBef>
                <a:spcPts val="0"/>
              </a:spcBef>
              <a:spcAft>
                <a:spcPts val="0"/>
              </a:spcAft>
            </a:pPr>
            <a:r>
              <a:rPr sz="2800" b="1">
                <a:solidFill>
                  <a:srgbClr val="10231F"/>
                </a:solidFill>
                <a:latin typeface="Plus Jakarta Sans"/>
                <a:ea typeface="Plus Jakarta Sans"/>
                <a:cs typeface="Plus Jakarta Sans"/>
              </a:rPr>
              <a:t>Las alertas informan</a:t>
            </a:r>
          </a:p>
        </p:txBody>
      </p:sp>
      <p:pic>
        <p:nvPicPr>
          <p:cNvPr id="5" name="Picture 4" descr="s8-alertas.png"/>
          <p:cNvPicPr>
            <a:picLocks noChangeAspect="1"/>
          </p:cNvPicPr>
          <p:nvPr/>
        </p:nvPicPr>
        <p:blipFill>
          <a:blip r:embed="rId2"/>
          <a:stretch>
            <a:fillRect/>
          </a:stretch>
        </p:blipFill>
        <p:spPr>
          <a:xfrm>
            <a:off x="320040" y="1005840"/>
            <a:ext cx="6724085" cy="5532120"/>
          </a:xfrm>
          <a:prstGeom prst="rect">
            <a:avLst/>
          </a:prstGeom>
        </p:spPr>
      </p:pic>
      <p:sp>
        <p:nvSpPr>
          <p:cNvPr id="6" name="Rounded Rectangle 5"/>
          <p:cNvSpPr/>
          <p:nvPr/>
        </p:nvSpPr>
        <p:spPr>
          <a:xfrm>
            <a:off x="7955279" y="1234440"/>
            <a:ext cx="3840480" cy="4937760"/>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83879" y="1463040"/>
            <a:ext cx="3429000" cy="1051560"/>
          </a:xfrm>
          <a:prstGeom prst="rect">
            <a:avLst/>
          </a:prstGeom>
          <a:noFill/>
        </p:spPr>
        <p:txBody>
          <a:bodyPr wrap="square" lIns="0" rIns="0" tIns="0" bIns="0" anchor="t"/>
          <a:lstStyle/>
          <a:p>
            <a:pPr algn="l">
              <a:lnSpc>
                <a:spcPct val="95000"/>
              </a:lnSpc>
              <a:spcBef>
                <a:spcPts val="0"/>
              </a:spcBef>
              <a:spcAft>
                <a:spcPts val="0"/>
              </a:spcAft>
            </a:pPr>
            <a:r>
              <a:rPr sz="2600" b="1">
                <a:solidFill>
                  <a:srgbClr val="0A4A40"/>
                </a:solidFill>
                <a:latin typeface="Plus Jakarta Sans"/>
                <a:ea typeface="Plus Jakarta Sans"/>
                <a:cs typeface="Plus Jakarta Sans"/>
              </a:rPr>
              <a:t>Sin sello</a:t>
            </a:r>
          </a:p>
          <a:p>
            <a:pPr algn="l">
              <a:lnSpc>
                <a:spcPct val="95000"/>
              </a:lnSpc>
              <a:spcBef>
                <a:spcPts val="0"/>
              </a:spcBef>
              <a:spcAft>
                <a:spcPts val="0"/>
              </a:spcAft>
            </a:pPr>
            <a:r>
              <a:rPr sz="2600" b="1">
                <a:solidFill>
                  <a:srgbClr val="0A4A40"/>
                </a:solidFill>
                <a:latin typeface="Plus Jakarta Sans"/>
                <a:ea typeface="Plus Jakarta Sans"/>
                <a:cs typeface="Plus Jakarta Sans"/>
              </a:rPr>
              <a:t>de exceso</a:t>
            </a:r>
          </a:p>
        </p:txBody>
      </p:sp>
      <p:sp>
        <p:nvSpPr>
          <p:cNvPr id="8" name="TextBox 7"/>
          <p:cNvSpPr txBox="1"/>
          <p:nvPr/>
        </p:nvSpPr>
        <p:spPr>
          <a:xfrm>
            <a:off x="8183879" y="2651760"/>
            <a:ext cx="3429000" cy="685800"/>
          </a:xfrm>
          <a:prstGeom prst="rect">
            <a:avLst/>
          </a:prstGeom>
          <a:noFill/>
        </p:spPr>
        <p:txBody>
          <a:bodyPr wrap="square" lIns="0" rIns="0" tIns="0" bIns="0" anchor="t"/>
          <a:lstStyle/>
          <a:p>
            <a:pPr algn="l">
              <a:lnSpc>
                <a:spcPct val="95000"/>
              </a:lnSpc>
              <a:spcBef>
                <a:spcPts val="0"/>
              </a:spcBef>
              <a:spcAft>
                <a:spcPts val="0"/>
              </a:spcAft>
            </a:pPr>
            <a:r>
              <a:rPr sz="1500" b="1">
                <a:solidFill>
                  <a:srgbClr val="10231F"/>
                </a:solidFill>
                <a:latin typeface="Plus Jakarta Sans"/>
                <a:ea typeface="Plus Jakarta Sans"/>
                <a:cs typeface="Plus Jakarta Sans"/>
              </a:rPr>
              <a:t>No traen un sello</a:t>
            </a:r>
          </a:p>
          <a:p>
            <a:pPr algn="l">
              <a:lnSpc>
                <a:spcPct val="95000"/>
              </a:lnSpc>
              <a:spcBef>
                <a:spcPts val="0"/>
              </a:spcBef>
              <a:spcAft>
                <a:spcPts val="0"/>
              </a:spcAft>
            </a:pPr>
            <a:r>
              <a:rPr sz="1500" b="1">
                <a:solidFill>
                  <a:srgbClr val="10231F"/>
                </a:solidFill>
                <a:latin typeface="Plus Jakarta Sans"/>
                <a:ea typeface="Plus Jakarta Sans"/>
                <a:cs typeface="Plus Jakarta Sans"/>
              </a:rPr>
              <a:t>NOM-051 de exceso.</a:t>
            </a:r>
          </a:p>
        </p:txBody>
      </p:sp>
      <p:sp>
        <p:nvSpPr>
          <p:cNvPr id="9" name="Rectangle 8"/>
          <p:cNvSpPr/>
          <p:nvPr/>
        </p:nvSpPr>
        <p:spPr>
          <a:xfrm>
            <a:off x="8183879" y="3474720"/>
            <a:ext cx="1188720" cy="45720"/>
          </a:xfrm>
          <a:prstGeom prst="rect">
            <a:avLst/>
          </a:prstGeom>
          <a:solidFill>
            <a:srgbClr val="E8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3749039"/>
            <a:ext cx="3429000" cy="640080"/>
          </a:xfrm>
          <a:prstGeom prst="rect">
            <a:avLst/>
          </a:prstGeom>
          <a:noFill/>
        </p:spPr>
        <p:txBody>
          <a:bodyPr wrap="square" lIns="0" rIns="0" tIns="0" bIns="0" anchor="t"/>
          <a:lstStyle/>
          <a:p>
            <a:pPr algn="l">
              <a:lnSpc>
                <a:spcPct val="95000"/>
              </a:lnSpc>
              <a:spcBef>
                <a:spcPts val="0"/>
              </a:spcBef>
              <a:spcAft>
                <a:spcPts val="0"/>
              </a:spcAft>
            </a:pPr>
            <a:r>
              <a:rPr sz="1800" b="1">
                <a:solidFill>
                  <a:srgbClr val="C41E3A"/>
                </a:solidFill>
                <a:latin typeface="Plus Jakarta Sans"/>
                <a:ea typeface="Plus Jakarta Sans"/>
                <a:cs typeface="Plus Jakarta Sans"/>
              </a:rPr>
              <a:t>Informar ≠ diagnosticar</a:t>
            </a:r>
          </a:p>
        </p:txBody>
      </p:sp>
      <p:sp>
        <p:nvSpPr>
          <p:cNvPr id="11" name="TextBox 10"/>
          <p:cNvSpPr txBox="1"/>
          <p:nvPr/>
        </p:nvSpPr>
        <p:spPr>
          <a:xfrm>
            <a:off x="8183879" y="4572000"/>
            <a:ext cx="3429000" cy="685800"/>
          </a:xfrm>
          <a:prstGeom prst="rect">
            <a:avLst/>
          </a:prstGeom>
          <a:noFill/>
        </p:spPr>
        <p:txBody>
          <a:bodyPr wrap="square" lIns="0" rIns="0" tIns="0" bIns="0" anchor="t"/>
          <a:lstStyle/>
          <a:p>
            <a:pPr algn="l">
              <a:lnSpc>
                <a:spcPct val="95000"/>
              </a:lnSpc>
              <a:spcBef>
                <a:spcPts val="0"/>
              </a:spcBef>
              <a:spcAft>
                <a:spcPts val="0"/>
              </a:spcAft>
            </a:pPr>
            <a:r>
              <a:rPr sz="1400" b="0">
                <a:solidFill>
                  <a:srgbClr val="5E6864"/>
                </a:solidFill>
                <a:latin typeface="Plus Jakarta Sans"/>
                <a:ea typeface="Plus Jakarta Sans"/>
                <a:cs typeface="Plus Jakarta Sans"/>
              </a:rPr>
              <a:t>Las alertas no determinan</a:t>
            </a:r>
          </a:p>
          <a:p>
            <a:pPr algn="l">
              <a:lnSpc>
                <a:spcPct val="95000"/>
              </a:lnSpc>
              <a:spcBef>
                <a:spcPts val="0"/>
              </a:spcBef>
              <a:spcAft>
                <a:spcPts val="0"/>
              </a:spcAft>
            </a:pPr>
            <a:r>
              <a:rPr sz="1400" b="0">
                <a:solidFill>
                  <a:srgbClr val="5E6864"/>
                </a:solidFill>
                <a:latin typeface="Plus Jakarta Sans"/>
                <a:ea typeface="Plus Jakarta Sans"/>
                <a:cs typeface="Plus Jakarta Sans"/>
              </a:rPr>
              <a:t>por sí mismas la puntuación.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3EB"/>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7315200" cy="256032"/>
          </a:xfrm>
          <a:prstGeom prst="rect">
            <a:avLst/>
          </a:prstGeom>
          <a:noFill/>
        </p:spPr>
        <p:txBody>
          <a:bodyPr wrap="square" lIns="0" rIns="0" tIns="0" bIns="0" anchor="t"/>
          <a:lstStyle/>
          <a:p>
            <a:pPr algn="l">
              <a:lnSpc>
                <a:spcPct val="95000"/>
              </a:lnSpc>
              <a:spcBef>
                <a:spcPts val="0"/>
              </a:spcBef>
              <a:spcAft>
                <a:spcPts val="0"/>
              </a:spcAft>
            </a:pPr>
            <a:r>
              <a:rPr sz="1300" b="1">
                <a:solidFill>
                  <a:srgbClr val="0F6B63"/>
                </a:solidFill>
                <a:latin typeface="Plus Jakarta Sans"/>
                <a:ea typeface="Plus Jakarta Sans"/>
                <a:cs typeface="Plus Jakarta Sans"/>
              </a:rPr>
              <a:t>09   /   FUNDAMENTO</a:t>
            </a:r>
          </a:p>
        </p:txBody>
      </p:sp>
      <p:sp>
        <p:nvSpPr>
          <p:cNvPr id="3" name="TextBox 2"/>
          <p:cNvSpPr txBox="1"/>
          <p:nvPr/>
        </p:nvSpPr>
        <p:spPr>
          <a:xfrm>
            <a:off x="384048" y="475488"/>
            <a:ext cx="10972800" cy="384048"/>
          </a:xfrm>
          <a:prstGeom prst="rect">
            <a:avLst/>
          </a:prstGeom>
          <a:noFill/>
        </p:spPr>
        <p:txBody>
          <a:bodyPr wrap="square" lIns="0" rIns="0" tIns="0" bIns="0" anchor="t"/>
          <a:lstStyle/>
          <a:p>
            <a:pPr algn="l">
              <a:lnSpc>
                <a:spcPct val="95000"/>
              </a:lnSpc>
              <a:spcBef>
                <a:spcPts val="0"/>
              </a:spcBef>
              <a:spcAft>
                <a:spcPts val="0"/>
              </a:spcAft>
            </a:pPr>
            <a:r>
              <a:rPr sz="2800" b="1">
                <a:solidFill>
                  <a:srgbClr val="10231F"/>
                </a:solidFill>
                <a:latin typeface="Plus Jakarta Sans"/>
                <a:ea typeface="Plus Jakarta Sans"/>
                <a:cs typeface="Plus Jakarta Sans"/>
              </a:rPr>
              <a:t>Detrás de esa comparación</a:t>
            </a:r>
          </a:p>
        </p:txBody>
      </p:sp>
      <p:sp>
        <p:nvSpPr>
          <p:cNvPr id="4" name="Rounded Rectangle 3"/>
          <p:cNvSpPr/>
          <p:nvPr/>
        </p:nvSpPr>
        <p:spPr>
          <a:xfrm>
            <a:off x="384048" y="1005840"/>
            <a:ext cx="5623560" cy="1325880"/>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097280"/>
            <a:ext cx="5212080" cy="640080"/>
          </a:xfrm>
          <a:prstGeom prst="rect">
            <a:avLst/>
          </a:prstGeom>
          <a:noFill/>
        </p:spPr>
        <p:txBody>
          <a:bodyPr wrap="square" lIns="0" rIns="0" tIns="0" bIns="0" anchor="t"/>
          <a:lstStyle/>
          <a:p>
            <a:pPr algn="l">
              <a:lnSpc>
                <a:spcPct val="95000"/>
              </a:lnSpc>
              <a:spcBef>
                <a:spcPts val="0"/>
              </a:spcBef>
              <a:spcAft>
                <a:spcPts val="0"/>
              </a:spcAft>
            </a:pPr>
            <a:r>
              <a:rPr sz="3600" b="1">
                <a:solidFill>
                  <a:srgbClr val="0A4A40"/>
                </a:solidFill>
                <a:latin typeface="Plus Jakarta Sans"/>
                <a:ea typeface="Plus Jakarta Sans"/>
                <a:cs typeface="Plus Jakarta Sans"/>
              </a:rPr>
              <a:t>13 093</a:t>
            </a:r>
          </a:p>
        </p:txBody>
      </p:sp>
      <p:sp>
        <p:nvSpPr>
          <p:cNvPr id="6" name="TextBox 5"/>
          <p:cNvSpPr txBox="1"/>
          <p:nvPr/>
        </p:nvSpPr>
        <p:spPr>
          <a:xfrm>
            <a:off x="585216" y="1783080"/>
            <a:ext cx="5120640" cy="320040"/>
          </a:xfrm>
          <a:prstGeom prst="rect">
            <a:avLst/>
          </a:prstGeom>
          <a:noFill/>
        </p:spPr>
        <p:txBody>
          <a:bodyPr wrap="square" lIns="0" rIns="0" tIns="0" bIns="0" anchor="t"/>
          <a:lstStyle/>
          <a:p>
            <a:pPr algn="l">
              <a:lnSpc>
                <a:spcPct val="95000"/>
              </a:lnSpc>
              <a:spcBef>
                <a:spcPts val="0"/>
              </a:spcBef>
              <a:spcAft>
                <a:spcPts val="0"/>
              </a:spcAft>
            </a:pPr>
            <a:r>
              <a:rPr sz="1400" b="0">
                <a:solidFill>
                  <a:srgbClr val="5E6864"/>
                </a:solidFill>
                <a:latin typeface="Plus Jakarta Sans"/>
                <a:ea typeface="Plus Jakarta Sans"/>
                <a:cs typeface="Plus Jakarta Sans"/>
              </a:rPr>
              <a:t>productos integrados</a:t>
            </a:r>
          </a:p>
        </p:txBody>
      </p:sp>
      <p:sp>
        <p:nvSpPr>
          <p:cNvPr id="7" name="Rounded Rectangle 6"/>
          <p:cNvSpPr/>
          <p:nvPr/>
        </p:nvSpPr>
        <p:spPr>
          <a:xfrm>
            <a:off x="6172200" y="1005840"/>
            <a:ext cx="5623560" cy="1325880"/>
          </a:xfrm>
          <a:prstGeom prst="roundRect">
            <a:avLst>
              <a:gd name="adj" fmla="val 10000"/>
            </a:avLst>
          </a:prstGeom>
          <a:solidFill>
            <a:srgbClr val="E7F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097280"/>
            <a:ext cx="5212080" cy="640080"/>
          </a:xfrm>
          <a:prstGeom prst="rect">
            <a:avLst/>
          </a:prstGeom>
          <a:noFill/>
        </p:spPr>
        <p:txBody>
          <a:bodyPr wrap="square" lIns="0" rIns="0" tIns="0" bIns="0" anchor="t"/>
          <a:lstStyle/>
          <a:p>
            <a:pPr algn="l">
              <a:lnSpc>
                <a:spcPct val="95000"/>
              </a:lnSpc>
              <a:spcBef>
                <a:spcPts val="0"/>
              </a:spcBef>
              <a:spcAft>
                <a:spcPts val="0"/>
              </a:spcAft>
            </a:pPr>
            <a:r>
              <a:rPr sz="3600" b="1">
                <a:solidFill>
                  <a:srgbClr val="0F6B63"/>
                </a:solidFill>
                <a:latin typeface="Plus Jakarta Sans"/>
                <a:ea typeface="Plus Jakarta Sans"/>
                <a:cs typeface="Plus Jakarta Sans"/>
              </a:rPr>
              <a:t>5 864</a:t>
            </a:r>
          </a:p>
        </p:txBody>
      </p:sp>
      <p:sp>
        <p:nvSpPr>
          <p:cNvPr id="9" name="TextBox 8"/>
          <p:cNvSpPr txBox="1"/>
          <p:nvPr/>
        </p:nvSpPr>
        <p:spPr>
          <a:xfrm>
            <a:off x="6373368" y="1783080"/>
            <a:ext cx="5212080" cy="320040"/>
          </a:xfrm>
          <a:prstGeom prst="rect">
            <a:avLst/>
          </a:prstGeom>
          <a:noFill/>
        </p:spPr>
        <p:txBody>
          <a:bodyPr wrap="square" lIns="0" rIns="0" tIns="0" bIns="0" anchor="t"/>
          <a:lstStyle/>
          <a:p>
            <a:pPr algn="l">
              <a:lnSpc>
                <a:spcPct val="95000"/>
              </a:lnSpc>
              <a:spcBef>
                <a:spcPts val="0"/>
              </a:spcBef>
              <a:spcAft>
                <a:spcPts val="0"/>
              </a:spcAft>
            </a:pPr>
            <a:r>
              <a:rPr sz="1400" b="0">
                <a:solidFill>
                  <a:srgbClr val="0A4A40"/>
                </a:solidFill>
                <a:latin typeface="Plus Jakarta Sans"/>
                <a:ea typeface="Plus Jakarta Sans"/>
                <a:cs typeface="Plus Jakarta Sans"/>
              </a:rPr>
              <a:t>productos dentro del universo puntuable</a:t>
            </a:r>
          </a:p>
        </p:txBody>
      </p:sp>
      <p:sp>
        <p:nvSpPr>
          <p:cNvPr id="10" name="Rectangle 9"/>
          <p:cNvSpPr/>
          <p:nvPr/>
        </p:nvSpPr>
        <p:spPr>
          <a:xfrm>
            <a:off x="548640" y="2651760"/>
            <a:ext cx="41148" cy="1691640"/>
          </a:xfrm>
          <a:prstGeom prst="rect">
            <a:avLst/>
          </a:prstGeom>
          <a:solidFill>
            <a:srgbClr val="C9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4048" y="2514600"/>
            <a:ext cx="384048" cy="347472"/>
          </a:xfrm>
          <a:prstGeom prst="roundRect">
            <a:avLst>
              <a:gd name="adj" fmla="val 15000"/>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514600"/>
            <a:ext cx="384048" cy="347472"/>
          </a:xfrm>
          <a:prstGeom prst="rect">
            <a:avLst/>
          </a:prstGeom>
          <a:noFill/>
        </p:spPr>
        <p:txBody>
          <a:bodyPr wrap="square" lIns="0" rIns="0" tIns="0" bIns="0" anchor="ctr"/>
          <a:lstStyle/>
          <a:p>
            <a:pPr algn="ctr">
              <a:lnSpc>
                <a:spcPct val="95000"/>
              </a:lnSpc>
              <a:spcBef>
                <a:spcPts val="0"/>
              </a:spcBef>
              <a:spcAft>
                <a:spcPts val="0"/>
              </a:spcAft>
            </a:pPr>
            <a:r>
              <a:rPr sz="1200" b="1">
                <a:solidFill>
                  <a:srgbClr val="FFFFFF"/>
                </a:solidFill>
                <a:latin typeface="Plus Jakarta Sans"/>
                <a:ea typeface="Plus Jakarta Sans"/>
                <a:cs typeface="Plus Jakarta Sans"/>
              </a:rPr>
              <a:t>1</a:t>
            </a:r>
          </a:p>
        </p:txBody>
      </p:sp>
      <p:sp>
        <p:nvSpPr>
          <p:cNvPr id="13" name="TextBox 12"/>
          <p:cNvSpPr txBox="1"/>
          <p:nvPr/>
        </p:nvSpPr>
        <p:spPr>
          <a:xfrm>
            <a:off x="914400" y="2514600"/>
            <a:ext cx="4114800" cy="347472"/>
          </a:xfrm>
          <a:prstGeom prst="rect">
            <a:avLst/>
          </a:prstGeom>
          <a:noFill/>
        </p:spPr>
        <p:txBody>
          <a:bodyPr wrap="square" lIns="0" rIns="0" tIns="0" bIns="0" anchor="ctr"/>
          <a:lstStyle/>
          <a:p>
            <a:pPr algn="l">
              <a:lnSpc>
                <a:spcPct val="95000"/>
              </a:lnSpc>
              <a:spcBef>
                <a:spcPts val="0"/>
              </a:spcBef>
              <a:spcAft>
                <a:spcPts val="0"/>
              </a:spcAft>
            </a:pPr>
            <a:r>
              <a:rPr sz="1500" b="1">
                <a:solidFill>
                  <a:srgbClr val="10231F"/>
                </a:solidFill>
                <a:latin typeface="Plus Jakarta Sans"/>
                <a:ea typeface="Plus Jakarta Sans"/>
                <a:cs typeface="Plus Jakarta Sans"/>
              </a:rPr>
              <a:t>Datos</a:t>
            </a:r>
          </a:p>
        </p:txBody>
      </p:sp>
      <p:sp>
        <p:nvSpPr>
          <p:cNvPr id="14" name="Rounded Rectangle 13"/>
          <p:cNvSpPr/>
          <p:nvPr/>
        </p:nvSpPr>
        <p:spPr>
          <a:xfrm>
            <a:off x="384048" y="2953512"/>
            <a:ext cx="384048" cy="347472"/>
          </a:xfrm>
          <a:prstGeom prst="roundRect">
            <a:avLst>
              <a:gd name="adj" fmla="val 15000"/>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2953512"/>
            <a:ext cx="384048" cy="347472"/>
          </a:xfrm>
          <a:prstGeom prst="rect">
            <a:avLst/>
          </a:prstGeom>
          <a:noFill/>
        </p:spPr>
        <p:txBody>
          <a:bodyPr wrap="square" lIns="0" rIns="0" tIns="0" bIns="0" anchor="ctr"/>
          <a:lstStyle/>
          <a:p>
            <a:pPr algn="ctr">
              <a:lnSpc>
                <a:spcPct val="95000"/>
              </a:lnSpc>
              <a:spcBef>
                <a:spcPts val="0"/>
              </a:spcBef>
              <a:spcAft>
                <a:spcPts val="0"/>
              </a:spcAft>
            </a:pPr>
            <a:r>
              <a:rPr sz="1200" b="1">
                <a:solidFill>
                  <a:srgbClr val="FFFFFF"/>
                </a:solidFill>
                <a:latin typeface="Plus Jakarta Sans"/>
                <a:ea typeface="Plus Jakarta Sans"/>
                <a:cs typeface="Plus Jakarta Sans"/>
              </a:rPr>
              <a:t>2</a:t>
            </a:r>
          </a:p>
        </p:txBody>
      </p:sp>
      <p:sp>
        <p:nvSpPr>
          <p:cNvPr id="16" name="TextBox 15"/>
          <p:cNvSpPr txBox="1"/>
          <p:nvPr/>
        </p:nvSpPr>
        <p:spPr>
          <a:xfrm>
            <a:off x="914400" y="2953512"/>
            <a:ext cx="4114800" cy="347472"/>
          </a:xfrm>
          <a:prstGeom prst="rect">
            <a:avLst/>
          </a:prstGeom>
          <a:noFill/>
        </p:spPr>
        <p:txBody>
          <a:bodyPr wrap="square" lIns="0" rIns="0" tIns="0" bIns="0" anchor="ctr"/>
          <a:lstStyle/>
          <a:p>
            <a:pPr algn="l">
              <a:lnSpc>
                <a:spcPct val="95000"/>
              </a:lnSpc>
              <a:spcBef>
                <a:spcPts val="0"/>
              </a:spcBef>
              <a:spcAft>
                <a:spcPts val="0"/>
              </a:spcAft>
            </a:pPr>
            <a:r>
              <a:rPr sz="1500" b="1">
                <a:solidFill>
                  <a:srgbClr val="10231F"/>
                </a:solidFill>
                <a:latin typeface="Plus Jakarta Sans"/>
                <a:ea typeface="Plus Jakarta Sans"/>
                <a:cs typeface="Plus Jakarta Sans"/>
              </a:rPr>
              <a:t>Preparación</a:t>
            </a:r>
          </a:p>
        </p:txBody>
      </p:sp>
      <p:sp>
        <p:nvSpPr>
          <p:cNvPr id="17" name="Rounded Rectangle 16"/>
          <p:cNvSpPr/>
          <p:nvPr/>
        </p:nvSpPr>
        <p:spPr>
          <a:xfrm>
            <a:off x="384048" y="3392424"/>
            <a:ext cx="384048" cy="347472"/>
          </a:xfrm>
          <a:prstGeom prst="roundRect">
            <a:avLst>
              <a:gd name="adj" fmla="val 15000"/>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3392424"/>
            <a:ext cx="384048" cy="347472"/>
          </a:xfrm>
          <a:prstGeom prst="rect">
            <a:avLst/>
          </a:prstGeom>
          <a:noFill/>
        </p:spPr>
        <p:txBody>
          <a:bodyPr wrap="square" lIns="0" rIns="0" tIns="0" bIns="0" anchor="ctr"/>
          <a:lstStyle/>
          <a:p>
            <a:pPr algn="ctr">
              <a:lnSpc>
                <a:spcPct val="95000"/>
              </a:lnSpc>
              <a:spcBef>
                <a:spcPts val="0"/>
              </a:spcBef>
              <a:spcAft>
                <a:spcPts val="0"/>
              </a:spcAft>
            </a:pPr>
            <a:r>
              <a:rPr sz="1200" b="1">
                <a:solidFill>
                  <a:srgbClr val="FFFFFF"/>
                </a:solidFill>
                <a:latin typeface="Plus Jakarta Sans"/>
                <a:ea typeface="Plus Jakarta Sans"/>
                <a:cs typeface="Plus Jakarta Sans"/>
              </a:rPr>
              <a:t>3</a:t>
            </a:r>
          </a:p>
        </p:txBody>
      </p:sp>
      <p:sp>
        <p:nvSpPr>
          <p:cNvPr id="19" name="TextBox 18"/>
          <p:cNvSpPr txBox="1"/>
          <p:nvPr/>
        </p:nvSpPr>
        <p:spPr>
          <a:xfrm>
            <a:off x="914400" y="3392424"/>
            <a:ext cx="4114800" cy="347472"/>
          </a:xfrm>
          <a:prstGeom prst="rect">
            <a:avLst/>
          </a:prstGeom>
          <a:noFill/>
        </p:spPr>
        <p:txBody>
          <a:bodyPr wrap="square" lIns="0" rIns="0" tIns="0" bIns="0" anchor="ctr"/>
          <a:lstStyle/>
          <a:p>
            <a:pPr algn="l">
              <a:lnSpc>
                <a:spcPct val="95000"/>
              </a:lnSpc>
              <a:spcBef>
                <a:spcPts val="0"/>
              </a:spcBef>
              <a:spcAft>
                <a:spcPts val="0"/>
              </a:spcAft>
            </a:pPr>
            <a:r>
              <a:rPr sz="1500" b="1">
                <a:solidFill>
                  <a:srgbClr val="10231F"/>
                </a:solidFill>
                <a:latin typeface="Plus Jakarta Sans"/>
                <a:ea typeface="Plus Jakarta Sans"/>
                <a:cs typeface="Plus Jakarta Sans"/>
              </a:rPr>
              <a:t>Variables de decisión</a:t>
            </a:r>
          </a:p>
        </p:txBody>
      </p:sp>
      <p:sp>
        <p:nvSpPr>
          <p:cNvPr id="20" name="Rounded Rectangle 19"/>
          <p:cNvSpPr/>
          <p:nvPr/>
        </p:nvSpPr>
        <p:spPr>
          <a:xfrm>
            <a:off x="384048" y="3831335"/>
            <a:ext cx="384048" cy="347472"/>
          </a:xfrm>
          <a:prstGeom prst="roundRect">
            <a:avLst>
              <a:gd name="adj" fmla="val 15000"/>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3831335"/>
            <a:ext cx="384048" cy="347472"/>
          </a:xfrm>
          <a:prstGeom prst="rect">
            <a:avLst/>
          </a:prstGeom>
          <a:noFill/>
        </p:spPr>
        <p:txBody>
          <a:bodyPr wrap="square" lIns="0" rIns="0" tIns="0" bIns="0" anchor="ctr"/>
          <a:lstStyle/>
          <a:p>
            <a:pPr algn="ctr">
              <a:lnSpc>
                <a:spcPct val="95000"/>
              </a:lnSpc>
              <a:spcBef>
                <a:spcPts val="0"/>
              </a:spcBef>
              <a:spcAft>
                <a:spcPts val="0"/>
              </a:spcAft>
            </a:pPr>
            <a:r>
              <a:rPr sz="1200" b="1">
                <a:solidFill>
                  <a:srgbClr val="FFFFFF"/>
                </a:solidFill>
                <a:latin typeface="Plus Jakarta Sans"/>
                <a:ea typeface="Plus Jakarta Sans"/>
                <a:cs typeface="Plus Jakarta Sans"/>
              </a:rPr>
              <a:t>4</a:t>
            </a:r>
          </a:p>
        </p:txBody>
      </p:sp>
      <p:sp>
        <p:nvSpPr>
          <p:cNvPr id="22" name="TextBox 21"/>
          <p:cNvSpPr txBox="1"/>
          <p:nvPr/>
        </p:nvSpPr>
        <p:spPr>
          <a:xfrm>
            <a:off x="914400" y="3831335"/>
            <a:ext cx="4114800" cy="347472"/>
          </a:xfrm>
          <a:prstGeom prst="rect">
            <a:avLst/>
          </a:prstGeom>
          <a:noFill/>
        </p:spPr>
        <p:txBody>
          <a:bodyPr wrap="square" lIns="0" rIns="0" tIns="0" bIns="0" anchor="ctr"/>
          <a:lstStyle/>
          <a:p>
            <a:pPr algn="l">
              <a:lnSpc>
                <a:spcPct val="95000"/>
              </a:lnSpc>
              <a:spcBef>
                <a:spcPts val="0"/>
              </a:spcBef>
              <a:spcAft>
                <a:spcPts val="0"/>
              </a:spcAft>
            </a:pPr>
            <a:r>
              <a:rPr sz="1500" b="1">
                <a:solidFill>
                  <a:srgbClr val="10231F"/>
                </a:solidFill>
                <a:latin typeface="Plus Jakarta Sans"/>
                <a:ea typeface="Plus Jakarta Sans"/>
                <a:cs typeface="Plus Jakarta Sans"/>
              </a:rPr>
              <a:t>Motor determinista</a:t>
            </a:r>
          </a:p>
        </p:txBody>
      </p:sp>
      <p:sp>
        <p:nvSpPr>
          <p:cNvPr id="23" name="Rounded Rectangle 22"/>
          <p:cNvSpPr/>
          <p:nvPr/>
        </p:nvSpPr>
        <p:spPr>
          <a:xfrm>
            <a:off x="384048" y="4270248"/>
            <a:ext cx="384048" cy="347472"/>
          </a:xfrm>
          <a:prstGeom prst="roundRect">
            <a:avLst>
              <a:gd name="adj" fmla="val 15000"/>
            </a:avLst>
          </a:prstGeom>
          <a:solidFill>
            <a:srgbClr val="0F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4270248"/>
            <a:ext cx="384048" cy="347472"/>
          </a:xfrm>
          <a:prstGeom prst="rect">
            <a:avLst/>
          </a:prstGeom>
          <a:noFill/>
        </p:spPr>
        <p:txBody>
          <a:bodyPr wrap="square" lIns="0" rIns="0" tIns="0" bIns="0" anchor="ctr"/>
          <a:lstStyle/>
          <a:p>
            <a:pPr algn="ctr">
              <a:lnSpc>
                <a:spcPct val="95000"/>
              </a:lnSpc>
              <a:spcBef>
                <a:spcPts val="0"/>
              </a:spcBef>
              <a:spcAft>
                <a:spcPts val="0"/>
              </a:spcAft>
            </a:pPr>
            <a:r>
              <a:rPr sz="1200" b="1">
                <a:solidFill>
                  <a:srgbClr val="FFFFFF"/>
                </a:solidFill>
                <a:latin typeface="Plus Jakarta Sans"/>
                <a:ea typeface="Plus Jakarta Sans"/>
                <a:cs typeface="Plus Jakarta Sans"/>
              </a:rPr>
              <a:t>5</a:t>
            </a:r>
          </a:p>
        </p:txBody>
      </p:sp>
      <p:sp>
        <p:nvSpPr>
          <p:cNvPr id="25" name="TextBox 24"/>
          <p:cNvSpPr txBox="1"/>
          <p:nvPr/>
        </p:nvSpPr>
        <p:spPr>
          <a:xfrm>
            <a:off x="914400" y="4270248"/>
            <a:ext cx="4114800" cy="347472"/>
          </a:xfrm>
          <a:prstGeom prst="rect">
            <a:avLst/>
          </a:prstGeom>
          <a:noFill/>
        </p:spPr>
        <p:txBody>
          <a:bodyPr wrap="square" lIns="0" rIns="0" tIns="0" bIns="0" anchor="ctr"/>
          <a:lstStyle/>
          <a:p>
            <a:pPr algn="l">
              <a:lnSpc>
                <a:spcPct val="95000"/>
              </a:lnSpc>
              <a:spcBef>
                <a:spcPts val="0"/>
              </a:spcBef>
              <a:spcAft>
                <a:spcPts val="0"/>
              </a:spcAft>
            </a:pPr>
            <a:r>
              <a:rPr sz="1500" b="1">
                <a:solidFill>
                  <a:srgbClr val="10231F"/>
                </a:solidFill>
                <a:latin typeface="Plus Jakarta Sans"/>
                <a:ea typeface="Plus Jakarta Sans"/>
                <a:cs typeface="Plus Jakarta Sans"/>
              </a:rPr>
              <a:t>Alternativas</a:t>
            </a:r>
          </a:p>
        </p:txBody>
      </p:sp>
      <p:sp>
        <p:nvSpPr>
          <p:cNvPr id="26" name="Rounded Rectangle 25"/>
          <p:cNvSpPr/>
          <p:nvPr/>
        </p:nvSpPr>
        <p:spPr>
          <a:xfrm>
            <a:off x="6172200" y="2514600"/>
            <a:ext cx="5623560" cy="2148840"/>
          </a:xfrm>
          <a:prstGeom prst="roundRect">
            <a:avLst>
              <a:gd name="adj" fmla="val 10000"/>
            </a:avLst>
          </a:prstGeom>
          <a:solidFill>
            <a:srgbClr val="FFFDF8"/>
          </a:solidFill>
          <a:ln w="15875">
            <a:solidFill>
              <a:srgbClr val="E6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2788920"/>
            <a:ext cx="5257800" cy="914400"/>
          </a:xfrm>
          <a:prstGeom prst="rect">
            <a:avLst/>
          </a:prstGeom>
          <a:noFill/>
        </p:spPr>
        <p:txBody>
          <a:bodyPr wrap="square" lIns="0" rIns="0" tIns="0" bIns="0" anchor="t"/>
          <a:lstStyle/>
          <a:p>
            <a:pPr algn="l">
              <a:lnSpc>
                <a:spcPct val="95000"/>
              </a:lnSpc>
              <a:spcBef>
                <a:spcPts val="0"/>
              </a:spcBef>
              <a:spcAft>
                <a:spcPts val="0"/>
              </a:spcAft>
            </a:pPr>
            <a:r>
              <a:rPr sz="2000" b="1">
                <a:solidFill>
                  <a:srgbClr val="0A4A40"/>
                </a:solidFill>
                <a:latin typeface="Plus Jakarta Sans"/>
                <a:ea typeface="Plus Jakarta Sans"/>
                <a:cs typeface="Plus Jakarta Sans"/>
              </a:rPr>
              <a:t>Un dato faltante no se convierte</a:t>
            </a:r>
          </a:p>
          <a:p>
            <a:pPr algn="l">
              <a:lnSpc>
                <a:spcPct val="95000"/>
              </a:lnSpc>
              <a:spcBef>
                <a:spcPts val="0"/>
              </a:spcBef>
              <a:spcAft>
                <a:spcPts val="0"/>
              </a:spcAft>
            </a:pPr>
            <a:r>
              <a:rPr sz="2000" b="1">
                <a:solidFill>
                  <a:srgbClr val="0A4A40"/>
                </a:solidFill>
                <a:latin typeface="Plus Jakarta Sans"/>
                <a:ea typeface="Plus Jakarta Sans"/>
                <a:cs typeface="Plus Jakarta Sans"/>
              </a:rPr>
              <a:t>automáticamente en cero.</a:t>
            </a:r>
          </a:p>
        </p:txBody>
      </p:sp>
      <p:sp>
        <p:nvSpPr>
          <p:cNvPr id="28" name="TextBox 27"/>
          <p:cNvSpPr txBox="1"/>
          <p:nvPr/>
        </p:nvSpPr>
        <p:spPr>
          <a:xfrm>
            <a:off x="6382512" y="3840480"/>
            <a:ext cx="5257800" cy="594360"/>
          </a:xfrm>
          <a:prstGeom prst="rect">
            <a:avLst/>
          </a:prstGeom>
          <a:noFill/>
        </p:spPr>
        <p:txBody>
          <a:bodyPr wrap="square" lIns="0" rIns="0" tIns="0" bIns="0" anchor="t"/>
          <a:lstStyle/>
          <a:p>
            <a:pPr algn="l">
              <a:lnSpc>
                <a:spcPct val="95000"/>
              </a:lnSpc>
              <a:spcBef>
                <a:spcPts val="0"/>
              </a:spcBef>
              <a:spcAft>
                <a:spcPts val="0"/>
              </a:spcAft>
            </a:pPr>
            <a:r>
              <a:rPr sz="1400" b="0">
                <a:solidFill>
                  <a:srgbClr val="5E6864"/>
                </a:solidFill>
                <a:latin typeface="Plus Jakarta Sans"/>
                <a:ea typeface="Plus Jakarta Sans"/>
                <a:cs typeface="Plus Jakarta Sans"/>
              </a:rPr>
              <a:t>El motor no lo trata como un valor</a:t>
            </a:r>
          </a:p>
          <a:p>
            <a:pPr algn="l">
              <a:lnSpc>
                <a:spcPct val="95000"/>
              </a:lnSpc>
              <a:spcBef>
                <a:spcPts val="0"/>
              </a:spcBef>
              <a:spcAft>
                <a:spcPts val="0"/>
              </a:spcAft>
            </a:pPr>
            <a:r>
              <a:rPr sz="1400" b="0">
                <a:solidFill>
                  <a:srgbClr val="5E6864"/>
                </a:solidFill>
                <a:latin typeface="Plus Jakarta Sans"/>
                <a:ea typeface="Plus Jakarta Sans"/>
                <a:cs typeface="Plus Jakarta Sans"/>
              </a:rPr>
              <a:t>favorable ni desfavorable.</a:t>
            </a:r>
          </a:p>
        </p:txBody>
      </p:sp>
      <p:sp>
        <p:nvSpPr>
          <p:cNvPr id="29" name="Rectangle 28"/>
          <p:cNvSpPr/>
          <p:nvPr/>
        </p:nvSpPr>
        <p:spPr>
          <a:xfrm>
            <a:off x="0" y="4892040"/>
            <a:ext cx="12191695" cy="1965960"/>
          </a:xfrm>
          <a:prstGeom prst="rect">
            <a:avLst/>
          </a:prstGeom>
          <a:solidFill>
            <a:srgbClr val="0A4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029200"/>
            <a:ext cx="11155680" cy="960120"/>
          </a:xfrm>
          <a:prstGeom prst="rect">
            <a:avLst/>
          </a:prstGeom>
          <a:noFill/>
        </p:spPr>
        <p:txBody>
          <a:bodyPr wrap="square" lIns="0" rIns="0" tIns="0" bIns="0" anchor="t"/>
          <a:lstStyle/>
          <a:p>
            <a:pPr algn="l">
              <a:lnSpc>
                <a:spcPct val="95000"/>
              </a:lnSpc>
              <a:spcBef>
                <a:spcPts val="0"/>
              </a:spcBef>
              <a:spcAft>
                <a:spcPts val="0"/>
              </a:spcAft>
            </a:pPr>
            <a:r>
              <a:rPr sz="2600" b="1">
                <a:solidFill>
                  <a:srgbClr val="FFFFFF"/>
                </a:solidFill>
                <a:latin typeface="Plus Jakarta Sans"/>
                <a:ea typeface="Plus Jakarta Sans"/>
                <a:cs typeface="Plus Jakarta Sans"/>
              </a:rPr>
              <a:t>NutriMatch no decide por la persona</a:t>
            </a:r>
          </a:p>
          <a:p>
            <a:pPr algn="l">
              <a:lnSpc>
                <a:spcPct val="95000"/>
              </a:lnSpc>
              <a:spcBef>
                <a:spcPts val="0"/>
              </a:spcBef>
              <a:spcAft>
                <a:spcPts val="0"/>
              </a:spcAft>
            </a:pPr>
            <a:r>
              <a:rPr sz="2600" b="1">
                <a:solidFill>
                  <a:srgbClr val="FFFFFF"/>
                </a:solidFill>
                <a:latin typeface="Plus Jakarta Sans"/>
                <a:ea typeface="Plus Jakarta Sans"/>
                <a:cs typeface="Plus Jakarta Sans"/>
              </a:rPr>
              <a:t>qué alimento es saludable.</a:t>
            </a:r>
          </a:p>
        </p:txBody>
      </p:sp>
      <p:sp>
        <p:nvSpPr>
          <p:cNvPr id="31" name="TextBox 30"/>
          <p:cNvSpPr txBox="1"/>
          <p:nvPr/>
        </p:nvSpPr>
        <p:spPr>
          <a:xfrm>
            <a:off x="457200" y="6080760"/>
            <a:ext cx="10241280" cy="320040"/>
          </a:xfrm>
          <a:prstGeom prst="rect">
            <a:avLst/>
          </a:prstGeom>
          <a:noFill/>
        </p:spPr>
        <p:txBody>
          <a:bodyPr wrap="square" lIns="0" rIns="0" tIns="0" bIns="0" anchor="t"/>
          <a:lstStyle/>
          <a:p>
            <a:pPr algn="l">
              <a:lnSpc>
                <a:spcPct val="95000"/>
              </a:lnSpc>
              <a:spcBef>
                <a:spcPts val="0"/>
              </a:spcBef>
              <a:spcAft>
                <a:spcPts val="0"/>
              </a:spcAft>
            </a:pPr>
            <a:r>
              <a:rPr sz="1500" b="0">
                <a:solidFill>
                  <a:srgbClr val="D5E8E4"/>
                </a:solidFill>
                <a:latin typeface="Plus Jakarta Sans"/>
                <a:ea typeface="Plus Jakarta Sans"/>
                <a:cs typeface="Plus Jakarta Sans"/>
              </a:rPr>
              <a:t>Organiza la información para que pueda comparar y elegir.</a:t>
            </a:r>
          </a:p>
        </p:txBody>
      </p:sp>
      <p:sp>
        <p:nvSpPr>
          <p:cNvPr id="32" name="TextBox 31"/>
          <p:cNvSpPr txBox="1"/>
          <p:nvPr/>
        </p:nvSpPr>
        <p:spPr>
          <a:xfrm>
            <a:off x="11109960" y="6355080"/>
            <a:ext cx="640080" cy="256032"/>
          </a:xfrm>
          <a:prstGeom prst="rect">
            <a:avLst/>
          </a:prstGeom>
          <a:noFill/>
        </p:spPr>
        <p:txBody>
          <a:bodyPr wrap="square" lIns="0" rIns="0" tIns="0" bIns="0" anchor="t"/>
          <a:lstStyle/>
          <a:p>
            <a:pPr algn="r">
              <a:lnSpc>
                <a:spcPct val="95000"/>
              </a:lnSpc>
              <a:spcBef>
                <a:spcPts val="0"/>
              </a:spcBef>
              <a:spcAft>
                <a:spcPts val="0"/>
              </a:spcAft>
            </a:pPr>
            <a:r>
              <a:rPr sz="1200" b="1">
                <a:solidFill>
                  <a:srgbClr val="9FCFC6"/>
                </a:solidFill>
                <a:latin typeface="Plus Jakarta Sans"/>
                <a:ea typeface="Plus Jakarta Sans"/>
                <a:cs typeface="Plus Jakarta Sans"/>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NutriMatch</dc:title>
  <dc:subject>Decidir una compra con NutriMatch</dc:subject>
  <dc:creator>Paola Castañeda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